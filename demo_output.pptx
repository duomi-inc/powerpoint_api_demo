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2-->
<p:presentation xmlns:r="http://schemas.openxmlformats.org/officeDocument/2006/relationships" xmlns:a="http://schemas.openxmlformats.org/drawingml/2006/main" xmlns:p="http://schemas.openxmlformats.org/presentationml/2006/main" saveSubsetFonts="1">
  <p:sldMasterIdLst>
    <p:sldMasterId id="2147483648" r:id="rId1"/>
    <p:sldMasterId id="2147483684" r:id="rId2"/>
  </p:sldMasterIdLst>
  <p:sldIdLst>
    <p:sldId id="257" r:id="rId3"/>
    <p:sldId id="260" r:id="rId4"/>
    <p:sldId id="266" r:id="rId5"/>
    <p:sldId id="267" r:id="rId6"/>
    <p:sldId id="268" r:id="rId7"/>
    <p:sldId id="269" r:id="rId8"/>
    <p:sldId id="271" r:id="rId9"/>
    <p:sldId id="273" r:id="rId10"/>
  </p:sldIdLst>
  <p:sldSz cx="13716000" cy="10287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tags" Target="tags/tag22.xml"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20.xlsx" /><Relationship Id="rId2" Type="http://schemas.microsoft.com/office/2011/relationships/chartColorStyle" Target="colors1.xml" /><Relationship Id="rId3" Type="http://schemas.microsoft.com/office/2011/relationships/chartStyle" Target="style1.xml"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1.xlsx" /><Relationship Id="rId2" Type="http://schemas.microsoft.com/office/2011/relationships/chartColorStyle" Target="colors2.xml" /><Relationship Id="rId3" Type="http://schemas.microsoft.com/office/2011/relationships/chartStyle" Target="style2.xml"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14837145805358887"/>
          <c:w val="0.8823291659355164"/>
          <c:h val="0.6489837765693665"/>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ptCount val="3"/>
                <c:pt idx="0">
                  <c:v>3</c:v>
                </c:pt>
                <c:pt idx="1">
                  <c:v>2</c:v>
                </c:pt>
                <c:pt idx="2">
                  <c:v>1</c:v>
                </c:pt>
              </c:numCache>
            </c:numRef>
          </c:val>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ptCount val="3"/>
                <c:pt idx="0">
                  <c:v>4</c:v>
                </c:pt>
                <c:pt idx="1">
                  <c:v>2</c:v>
                </c:pt>
                <c:pt idx="2">
                  <c:v>2</c:v>
                </c:pt>
              </c:numCache>
            </c:numRef>
          </c:val>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ptCount val="3"/>
                <c:pt idx="0">
                  <c:v>10</c:v>
                </c:pt>
                <c:pt idx="1">
                  <c:v>6</c:v>
                </c:pt>
                <c:pt idx="2">
                  <c:v>4</c:v>
                </c:pt>
              </c:numCache>
            </c:numRef>
          </c:val>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ptCount val="3"/>
                <c:pt idx="0">
                  <c:v>12</c:v>
                </c:pt>
                <c:pt idx="1">
                  <c:v>4</c:v>
                </c:pt>
                <c:pt idx="2">
                  <c:v>8</c:v>
                </c:pt>
              </c:numCache>
            </c:numRef>
          </c:val>
        </c:ser>
        <c:dLbls>
          <c:showLegendKey val="0"/>
          <c:showVal val="0"/>
          <c:showCatName val="0"/>
          <c:showSerName val="0"/>
          <c:showPercent val="0"/>
          <c:showBubbleSize val="0"/>
          <c:showLeaderLines val="0"/>
        </c:dLbls>
        <c:gapWidth val="4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09282336384057999"/>
          <c:y val="0.009999999776482582"/>
          <c:w val="0.8143532872200012"/>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20074935257434845"/>
          <c:w val="0.8823291659355164"/>
          <c:h val="0.7194229960441589"/>
        </c:manualLayout>
      </c:layout>
      <c:barChart>
        <c:barDir val="col"/>
        <c:grouping val="percentStacked"/>
        <c:varyColors val="0"/>
        <c:ser>
          <c:idx val="0"/>
          <c:order val="0"/>
          <c:tx>
            <c:strRef>
              <c:f>Sheet1!$B$1</c:f>
              <c:strCache>
                <c:ptCount val="1"/>
                <c:pt idx="0">
                  <c:v>Promoters (9-10)</c:v>
                </c:pt>
              </c:strCache>
            </c:strRef>
          </c:tx>
          <c:spPr>
            <a:solidFill>
              <a:srgbClr val="FDDCE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ptCount val="8"/>
                <c:pt idx="0">
                  <c:v>45</c:v>
                </c:pt>
                <c:pt idx="1">
                  <c:v>38</c:v>
                </c:pt>
                <c:pt idx="2">
                  <c:v>12</c:v>
                </c:pt>
                <c:pt idx="3">
                  <c:v>28</c:v>
                </c:pt>
                <c:pt idx="4">
                  <c:v>52</c:v>
                </c:pt>
                <c:pt idx="5">
                  <c:v>31</c:v>
                </c:pt>
                <c:pt idx="6">
                  <c:v>8</c:v>
                </c:pt>
                <c:pt idx="7">
                  <c:v>42</c:v>
                </c:pt>
              </c:numCache>
            </c:numRef>
          </c:val>
        </c:ser>
        <c:ser>
          <c:idx val="1"/>
          <c:order val="1"/>
          <c:tx>
            <c:strRef>
              <c:f>Sheet1!$C$1</c:f>
              <c:strCache>
                <c:ptCount val="1"/>
                <c:pt idx="0">
                  <c:v>Passives (7-8)</c:v>
                </c:pt>
              </c:strCache>
            </c:strRef>
          </c:tx>
          <c:spPr>
            <a:solidFill>
              <a:srgbClr val="7DC892"/>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ptCount val="8"/>
                <c:pt idx="0">
                  <c:v>32</c:v>
                </c:pt>
                <c:pt idx="1">
                  <c:v>35</c:v>
                </c:pt>
                <c:pt idx="2">
                  <c:v>25</c:v>
                </c:pt>
                <c:pt idx="3">
                  <c:v>38</c:v>
                </c:pt>
                <c:pt idx="4">
                  <c:v>28</c:v>
                </c:pt>
                <c:pt idx="5">
                  <c:v>42</c:v>
                </c:pt>
                <c:pt idx="6">
                  <c:v>22</c:v>
                </c:pt>
                <c:pt idx="7">
                  <c:v>33</c:v>
                </c:pt>
              </c:numCache>
            </c:numRef>
          </c:val>
        </c:ser>
        <c:ser>
          <c:idx val="2"/>
          <c:order val="2"/>
          <c:tx>
            <c:strRef>
              <c:f>Sheet1!$D$1</c:f>
              <c:strCache>
                <c:ptCount val="1"/>
                <c:pt idx="0">
                  <c:v>Detractors (0-6)</c:v>
                </c:pt>
              </c:strCache>
            </c:strRef>
          </c:tx>
          <c:spPr>
            <a:solidFill>
              <a:srgbClr val="1A6F75"/>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ptCount val="8"/>
                <c:pt idx="0">
                  <c:v>23</c:v>
                </c:pt>
                <c:pt idx="1">
                  <c:v>27</c:v>
                </c:pt>
                <c:pt idx="2">
                  <c:v>63</c:v>
                </c:pt>
                <c:pt idx="3">
                  <c:v>34</c:v>
                </c:pt>
                <c:pt idx="4">
                  <c:v>20</c:v>
                </c:pt>
                <c:pt idx="5">
                  <c:v>27</c:v>
                </c:pt>
                <c:pt idx="6">
                  <c:v>70</c:v>
                </c:pt>
                <c:pt idx="7">
                  <c:v>25</c:v>
                </c:pt>
              </c:numCache>
            </c:numRef>
          </c:val>
        </c:ser>
        <c:dLbls>
          <c:showLegendKey val="0"/>
          <c:showVal val="0"/>
          <c:showCatName val="0"/>
          <c:showSerName val="0"/>
          <c:showPercent val="0"/>
          <c:showBubbleSize val="0"/>
          <c:showLeaderLines val="0"/>
        </c:dLbls>
        <c:gapWidth val="10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olors1.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9.vml.rels>&#65279;<?xml version="1.0" encoding="utf-8" standalone="yes"?><Relationships xmlns="http://schemas.openxmlformats.org/package/2006/relationships"><Relationship Id="rId1" Type="http://schemas.openxmlformats.org/officeDocument/2006/relationships/image" Target="../media/image214.emf"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vmlDrawing" Target="../drawings/vmlDrawing1.vml" /><Relationship Id="rId11" Type="http://schemas.openxmlformats.org/officeDocument/2006/relationships/slideMaster" Target="../slideMasters/slideMaster2.xml" /><Relationship Id="rId2" Type="http://schemas.openxmlformats.org/officeDocument/2006/relationships/oleObject" Target="../embeddings/oleObject2.bin" TargetMode="Internal" /><Relationship Id="rId3" Type="http://schemas.openxmlformats.org/officeDocument/2006/relationships/image" Target="../media/image1.emf" /><Relationship Id="rId4" Type="http://schemas.openxmlformats.org/officeDocument/2006/relationships/image" Target="../media/image2.png" /><Relationship Id="rId5" Type="http://schemas.openxmlformats.org/officeDocument/2006/relationships/image" Target="../media/image3.svg" /><Relationship Id="rId6" Type="http://schemas.openxmlformats.org/officeDocument/2006/relationships/image" Target="../media/image4.png" /><Relationship Id="rId7" Type="http://schemas.openxmlformats.org/officeDocument/2006/relationships/image" Target="../media/image5.svg" /><Relationship Id="rId8" Type="http://schemas.openxmlformats.org/officeDocument/2006/relationships/image" Target="../media/image6.png" /><Relationship Id="rId9" Type="http://schemas.openxmlformats.org/officeDocument/2006/relationships/image" Target="../media/image7.svg"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2.xml" /><Relationship Id="rId10" Type="http://schemas.openxmlformats.org/officeDocument/2006/relationships/image" Target="../media/image13.svg" /><Relationship Id="rId11" Type="http://schemas.openxmlformats.org/officeDocument/2006/relationships/image" Target="../media/image14.png" /><Relationship Id="rId12" Type="http://schemas.openxmlformats.org/officeDocument/2006/relationships/image" Target="../media/image15.svg" /><Relationship Id="rId13" Type="http://schemas.openxmlformats.org/officeDocument/2006/relationships/vmlDrawing" Target="../drawings/vmlDrawing2.vml" /><Relationship Id="rId14" Type="http://schemas.openxmlformats.org/officeDocument/2006/relationships/slideMaster" Target="../slideMasters/slideMaster2.xml" /><Relationship Id="rId2" Type="http://schemas.openxmlformats.org/officeDocument/2006/relationships/tags" Target="../tags/tag3.xml" /><Relationship Id="rId3" Type="http://schemas.openxmlformats.org/officeDocument/2006/relationships/oleObject" Target="../embeddings/oleObject3.bin" TargetMode="Internal" /><Relationship Id="rId4" Type="http://schemas.openxmlformats.org/officeDocument/2006/relationships/image" Target="../media/image1.emf"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xml" /><Relationship Id="rId10" Type="http://schemas.openxmlformats.org/officeDocument/2006/relationships/image" Target="../media/image21.png" /><Relationship Id="rId11" Type="http://schemas.openxmlformats.org/officeDocument/2006/relationships/image" Target="../media/image22.svg" /><Relationship Id="rId12" Type="http://schemas.openxmlformats.org/officeDocument/2006/relationships/image" Target="../media/image23.png" /><Relationship Id="rId13" Type="http://schemas.openxmlformats.org/officeDocument/2006/relationships/image" Target="../media/image24.svg" /><Relationship Id="rId14" Type="http://schemas.openxmlformats.org/officeDocument/2006/relationships/image" Target="../media/image25.png" /><Relationship Id="rId15" Type="http://schemas.openxmlformats.org/officeDocument/2006/relationships/image" Target="../media/image26.svg" /><Relationship Id="rId16" Type="http://schemas.openxmlformats.org/officeDocument/2006/relationships/image" Target="../media/image27.png" /><Relationship Id="rId17" Type="http://schemas.openxmlformats.org/officeDocument/2006/relationships/image" Target="../media/image28.svg" /><Relationship Id="rId18" Type="http://schemas.openxmlformats.org/officeDocument/2006/relationships/image" Target="../media/image14.png" /><Relationship Id="rId19" Type="http://schemas.openxmlformats.org/officeDocument/2006/relationships/image" Target="../media/image15.svg" /><Relationship Id="rId2" Type="http://schemas.openxmlformats.org/officeDocument/2006/relationships/oleObject" Target="../embeddings/oleObject4.bin" TargetMode="Internal" /><Relationship Id="rId20" Type="http://schemas.openxmlformats.org/officeDocument/2006/relationships/vmlDrawing" Target="../drawings/vmlDrawing3.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8.png" /><Relationship Id="rId5" Type="http://schemas.openxmlformats.org/officeDocument/2006/relationships/image" Target="../media/image16.png" /><Relationship Id="rId6" Type="http://schemas.openxmlformats.org/officeDocument/2006/relationships/image" Target="../media/image17.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svg"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5.xml" /><Relationship Id="rId10" Type="http://schemas.openxmlformats.org/officeDocument/2006/relationships/slideMaster" Target="../slideMasters/slideMaster2.xml" /><Relationship Id="rId2" Type="http://schemas.openxmlformats.org/officeDocument/2006/relationships/tags" Target="../tags/tag6.xml" /><Relationship Id="rId3" Type="http://schemas.openxmlformats.org/officeDocument/2006/relationships/oleObject" Target="../embeddings/oleObject5.bin" TargetMode="Internal" /><Relationship Id="rId4" Type="http://schemas.openxmlformats.org/officeDocument/2006/relationships/image" Target="../media/image1.emf"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29.png" /><Relationship Id="rId8" Type="http://schemas.openxmlformats.org/officeDocument/2006/relationships/image" Target="../media/image30.svg" /><Relationship Id="rId9" Type="http://schemas.openxmlformats.org/officeDocument/2006/relationships/vmlDrawing" Target="../drawings/vmlDrawing4.v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oleObject" Target="../embeddings/oleObject6.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vmlDrawing" Target="../drawings/vmlDrawing5.vml" /><Relationship Id="rId7"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xml" /><Relationship Id="rId10" Type="http://schemas.openxmlformats.org/officeDocument/2006/relationships/image" Target="../media/image29.png" /><Relationship Id="rId11" Type="http://schemas.openxmlformats.org/officeDocument/2006/relationships/image" Target="../media/image30.svg" /><Relationship Id="rId12" Type="http://schemas.openxmlformats.org/officeDocument/2006/relationships/vmlDrawing" Target="../drawings/vmlDrawing6.vml" /><Relationship Id="rId13" Type="http://schemas.openxmlformats.org/officeDocument/2006/relationships/slideMaster" Target="../slideMasters/slideMaster2.xml" /><Relationship Id="rId2" Type="http://schemas.openxmlformats.org/officeDocument/2006/relationships/oleObject" Target="../embeddings/oleObject7.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1.png" /><Relationship Id="rId7" Type="http://schemas.openxmlformats.org/officeDocument/2006/relationships/image" Target="../media/image32.svg" /><Relationship Id="rId8" Type="http://schemas.openxmlformats.org/officeDocument/2006/relationships/image" Target="../media/image33.png" /><Relationship Id="rId9" Type="http://schemas.openxmlformats.org/officeDocument/2006/relationships/image" Target="../media/image34.svg"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xml" /><Relationship Id="rId10" Type="http://schemas.openxmlformats.org/officeDocument/2006/relationships/image" Target="../media/image34.svg" /><Relationship Id="rId11" Type="http://schemas.openxmlformats.org/officeDocument/2006/relationships/image" Target="../media/image29.png" /><Relationship Id="rId12" Type="http://schemas.openxmlformats.org/officeDocument/2006/relationships/image" Target="../media/image30.svg" /><Relationship Id="rId13" Type="http://schemas.openxmlformats.org/officeDocument/2006/relationships/vmlDrawing" Target="../drawings/vmlDrawing7.vml" /><Relationship Id="rId14" Type="http://schemas.openxmlformats.org/officeDocument/2006/relationships/slideMaster" Target="../slideMasters/slideMaster2.xml" /><Relationship Id="rId2" Type="http://schemas.openxmlformats.org/officeDocument/2006/relationships/oleObject" Target="../embeddings/oleObject8.bin" TargetMode="Interna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36.png" /><Relationship Id="rId6" Type="http://schemas.openxmlformats.org/officeDocument/2006/relationships/image" Target="../media/image37.svg" /><Relationship Id="rId7" Type="http://schemas.openxmlformats.org/officeDocument/2006/relationships/image" Target="../media/image14.png" /><Relationship Id="rId8" Type="http://schemas.openxmlformats.org/officeDocument/2006/relationships/image" Target="../media/image15.svg" /><Relationship Id="rId9" Type="http://schemas.openxmlformats.org/officeDocument/2006/relationships/image" Target="../media/image33.png"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10.xml" /><Relationship Id="rId10" Type="http://schemas.openxmlformats.org/officeDocument/2006/relationships/image" Target="../media/image42.png" /><Relationship Id="rId11" Type="http://schemas.openxmlformats.org/officeDocument/2006/relationships/image" Target="../media/image43.svg" /><Relationship Id="rId12" Type="http://schemas.openxmlformats.org/officeDocument/2006/relationships/image" Target="../media/image44.png" /><Relationship Id="rId13" Type="http://schemas.openxmlformats.org/officeDocument/2006/relationships/image" Target="../media/image45.svg" /><Relationship Id="rId14" Type="http://schemas.openxmlformats.org/officeDocument/2006/relationships/image" Target="../media/image46.png" /><Relationship Id="rId15" Type="http://schemas.openxmlformats.org/officeDocument/2006/relationships/image" Target="../media/image47.svg" /><Relationship Id="rId16" Type="http://schemas.openxmlformats.org/officeDocument/2006/relationships/image" Target="../media/image48.svg" /><Relationship Id="rId17" Type="http://schemas.openxmlformats.org/officeDocument/2006/relationships/image" Target="../media/image49.svg" /><Relationship Id="rId18" Type="http://schemas.openxmlformats.org/officeDocument/2006/relationships/image" Target="../media/image29.png" /><Relationship Id="rId19" Type="http://schemas.openxmlformats.org/officeDocument/2006/relationships/image" Target="../media/image30.svg" /><Relationship Id="rId2" Type="http://schemas.openxmlformats.org/officeDocument/2006/relationships/oleObject" Target="../embeddings/oleObject9.bin" TargetMode="Internal" /><Relationship Id="rId20" Type="http://schemas.openxmlformats.org/officeDocument/2006/relationships/vmlDrawing" Target="../drawings/vmlDrawing8.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8.png" /><Relationship Id="rId7" Type="http://schemas.openxmlformats.org/officeDocument/2006/relationships/image" Target="../media/image39.svg" /><Relationship Id="rId8" Type="http://schemas.openxmlformats.org/officeDocument/2006/relationships/image" Target="../media/image40.png" /><Relationship Id="rId9" Type="http://schemas.openxmlformats.org/officeDocument/2006/relationships/image" Target="../media/image41.svg"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11.xml" /><Relationship Id="rId10" Type="http://schemas.openxmlformats.org/officeDocument/2006/relationships/image" Target="../media/image51.png" /><Relationship Id="rId11" Type="http://schemas.openxmlformats.org/officeDocument/2006/relationships/image" Target="../media/image52.svg" /><Relationship Id="rId12" Type="http://schemas.openxmlformats.org/officeDocument/2006/relationships/image" Target="../media/image53.png" /><Relationship Id="rId13" Type="http://schemas.openxmlformats.org/officeDocument/2006/relationships/image" Target="../media/image54.svg" /><Relationship Id="rId14" Type="http://schemas.openxmlformats.org/officeDocument/2006/relationships/image" Target="../media/image55.png" /><Relationship Id="rId15" Type="http://schemas.openxmlformats.org/officeDocument/2006/relationships/image" Target="../media/image56.svg" /><Relationship Id="rId16" Type="http://schemas.openxmlformats.org/officeDocument/2006/relationships/image" Target="../media/image57.png" /><Relationship Id="rId17" Type="http://schemas.openxmlformats.org/officeDocument/2006/relationships/image" Target="../media/image58.svg" /><Relationship Id="rId18" Type="http://schemas.openxmlformats.org/officeDocument/2006/relationships/image" Target="../media/image59.png" /><Relationship Id="rId19" Type="http://schemas.openxmlformats.org/officeDocument/2006/relationships/image" Target="../media/image60.svg" /><Relationship Id="rId2" Type="http://schemas.openxmlformats.org/officeDocument/2006/relationships/oleObject" Target="../embeddings/oleObject10.bin" TargetMode="Internal" /><Relationship Id="rId20" Type="http://schemas.openxmlformats.org/officeDocument/2006/relationships/image" Target="../media/image61.png" /><Relationship Id="rId21" Type="http://schemas.openxmlformats.org/officeDocument/2006/relationships/image" Target="../media/image62.svg" /><Relationship Id="rId22" Type="http://schemas.openxmlformats.org/officeDocument/2006/relationships/image" Target="../media/image63.png" /><Relationship Id="rId23" Type="http://schemas.openxmlformats.org/officeDocument/2006/relationships/image" Target="../media/image64.svg" /><Relationship Id="rId24" Type="http://schemas.openxmlformats.org/officeDocument/2006/relationships/vmlDrawing" Target="../drawings/vmlDrawing9.vml" /><Relationship Id="rId25"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50.png" /><Relationship Id="rId6" Type="http://schemas.openxmlformats.org/officeDocument/2006/relationships/image" Target="../media/image36.png" /><Relationship Id="rId7" Type="http://schemas.openxmlformats.org/officeDocument/2006/relationships/image" Target="../media/image37.svg" /><Relationship Id="rId8" Type="http://schemas.openxmlformats.org/officeDocument/2006/relationships/image" Target="../media/image14.png" /><Relationship Id="rId9" Type="http://schemas.openxmlformats.org/officeDocument/2006/relationships/image" Target="../media/image15.svg"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12.xml" /><Relationship Id="rId10" Type="http://schemas.openxmlformats.org/officeDocument/2006/relationships/image" Target="../media/image66.png" /><Relationship Id="rId11" Type="http://schemas.openxmlformats.org/officeDocument/2006/relationships/image" Target="../media/image67.svg" /><Relationship Id="rId12" Type="http://schemas.openxmlformats.org/officeDocument/2006/relationships/image" Target="../media/image68.png" /><Relationship Id="rId13" Type="http://schemas.openxmlformats.org/officeDocument/2006/relationships/image" Target="../media/image69.svg" /><Relationship Id="rId14" Type="http://schemas.openxmlformats.org/officeDocument/2006/relationships/image" Target="../media/image70.png" /><Relationship Id="rId15" Type="http://schemas.openxmlformats.org/officeDocument/2006/relationships/image" Target="../media/image71.svg" /><Relationship Id="rId16" Type="http://schemas.openxmlformats.org/officeDocument/2006/relationships/image" Target="../media/image72.png" /><Relationship Id="rId17" Type="http://schemas.openxmlformats.org/officeDocument/2006/relationships/image" Target="../media/image73.svg" /><Relationship Id="rId18" Type="http://schemas.openxmlformats.org/officeDocument/2006/relationships/image" Target="../media/image57.png" /><Relationship Id="rId19" Type="http://schemas.openxmlformats.org/officeDocument/2006/relationships/image" Target="../media/image58.svg" /><Relationship Id="rId2" Type="http://schemas.openxmlformats.org/officeDocument/2006/relationships/oleObject" Target="../embeddings/oleObject11.bin" TargetMode="Internal" /><Relationship Id="rId20" Type="http://schemas.openxmlformats.org/officeDocument/2006/relationships/image" Target="../media/image74.png" /><Relationship Id="rId21" Type="http://schemas.openxmlformats.org/officeDocument/2006/relationships/image" Target="../media/image75.svg" /><Relationship Id="rId22" Type="http://schemas.openxmlformats.org/officeDocument/2006/relationships/image" Target="../media/image76.png" /><Relationship Id="rId23" Type="http://schemas.openxmlformats.org/officeDocument/2006/relationships/image" Target="../media/image77.svg" /><Relationship Id="rId24" Type="http://schemas.openxmlformats.org/officeDocument/2006/relationships/image" Target="../media/image78.png" /><Relationship Id="rId25" Type="http://schemas.openxmlformats.org/officeDocument/2006/relationships/image" Target="../media/image79.svg" /><Relationship Id="rId26" Type="http://schemas.openxmlformats.org/officeDocument/2006/relationships/image" Target="../media/image63.png" /><Relationship Id="rId27" Type="http://schemas.openxmlformats.org/officeDocument/2006/relationships/image" Target="../media/image64.svg" /><Relationship Id="rId28" Type="http://schemas.openxmlformats.org/officeDocument/2006/relationships/vmlDrawing" Target="../drawings/vmlDrawing10.vml" /><Relationship Id="rId29"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65.pn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61.png" /><Relationship Id="rId9" Type="http://schemas.openxmlformats.org/officeDocument/2006/relationships/image" Target="../media/image62.svg"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13.xml" /><Relationship Id="rId10" Type="http://schemas.openxmlformats.org/officeDocument/2006/relationships/image" Target="../media/image83.svg" /><Relationship Id="rId11" Type="http://schemas.openxmlformats.org/officeDocument/2006/relationships/image" Target="../media/image84.png" /><Relationship Id="rId12" Type="http://schemas.openxmlformats.org/officeDocument/2006/relationships/image" Target="../media/image85.svg" /><Relationship Id="rId13" Type="http://schemas.openxmlformats.org/officeDocument/2006/relationships/image" Target="../media/image86.png" /><Relationship Id="rId14" Type="http://schemas.openxmlformats.org/officeDocument/2006/relationships/image" Target="../media/image87.svg" /><Relationship Id="rId15" Type="http://schemas.openxmlformats.org/officeDocument/2006/relationships/image" Target="../media/image88.png" /><Relationship Id="rId16" Type="http://schemas.openxmlformats.org/officeDocument/2006/relationships/image" Target="../media/image89.svg" /><Relationship Id="rId17" Type="http://schemas.openxmlformats.org/officeDocument/2006/relationships/image" Target="../media/image90.png" /><Relationship Id="rId18" Type="http://schemas.openxmlformats.org/officeDocument/2006/relationships/image" Target="../media/image91.svg" /><Relationship Id="rId19" Type="http://schemas.openxmlformats.org/officeDocument/2006/relationships/image" Target="../media/image92.png" /><Relationship Id="rId2" Type="http://schemas.openxmlformats.org/officeDocument/2006/relationships/oleObject" Target="../embeddings/oleObject12.bin" TargetMode="Internal" /><Relationship Id="rId20" Type="http://schemas.openxmlformats.org/officeDocument/2006/relationships/image" Target="../media/image93.svg" /><Relationship Id="rId21" Type="http://schemas.openxmlformats.org/officeDocument/2006/relationships/image" Target="../media/image94.png" /><Relationship Id="rId22" Type="http://schemas.openxmlformats.org/officeDocument/2006/relationships/image" Target="../media/image95.svg" /><Relationship Id="rId23" Type="http://schemas.openxmlformats.org/officeDocument/2006/relationships/vmlDrawing" Target="../drawings/vmlDrawing11.vml" /><Relationship Id="rId24"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80.png" /><Relationship Id="rId8" Type="http://schemas.openxmlformats.org/officeDocument/2006/relationships/image" Target="../media/image81.svg" /><Relationship Id="rId9" Type="http://schemas.openxmlformats.org/officeDocument/2006/relationships/image" Target="../media/image82.png"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14.xml" /><Relationship Id="rId10" Type="http://schemas.openxmlformats.org/officeDocument/2006/relationships/image" Target="../media/image100.png" /><Relationship Id="rId11" Type="http://schemas.openxmlformats.org/officeDocument/2006/relationships/image" Target="../media/image101.svg" /><Relationship Id="rId12" Type="http://schemas.openxmlformats.org/officeDocument/2006/relationships/image" Target="../media/image102.png" /><Relationship Id="rId13" Type="http://schemas.openxmlformats.org/officeDocument/2006/relationships/image" Target="../media/image103.svg" /><Relationship Id="rId14" Type="http://schemas.openxmlformats.org/officeDocument/2006/relationships/image" Target="../media/image104.png" /><Relationship Id="rId15" Type="http://schemas.openxmlformats.org/officeDocument/2006/relationships/image" Target="../media/image105.svg" /><Relationship Id="rId16" Type="http://schemas.openxmlformats.org/officeDocument/2006/relationships/image" Target="../media/image106.png" /><Relationship Id="rId17" Type="http://schemas.openxmlformats.org/officeDocument/2006/relationships/image" Target="../media/image107.svg" /><Relationship Id="rId18" Type="http://schemas.openxmlformats.org/officeDocument/2006/relationships/image" Target="../media/image108.png" /><Relationship Id="rId19" Type="http://schemas.openxmlformats.org/officeDocument/2006/relationships/image" Target="../media/image109.svg" /><Relationship Id="rId2" Type="http://schemas.openxmlformats.org/officeDocument/2006/relationships/oleObject" Target="../embeddings/oleObject13.bin" TargetMode="Internal" /><Relationship Id="rId20" Type="http://schemas.openxmlformats.org/officeDocument/2006/relationships/image" Target="../media/image110.png" /><Relationship Id="rId21" Type="http://schemas.openxmlformats.org/officeDocument/2006/relationships/image" Target="../media/image111.svg" /><Relationship Id="rId22" Type="http://schemas.openxmlformats.org/officeDocument/2006/relationships/image" Target="../media/image112.png" /><Relationship Id="rId23" Type="http://schemas.openxmlformats.org/officeDocument/2006/relationships/image" Target="../media/image113.svg" /><Relationship Id="rId24" Type="http://schemas.openxmlformats.org/officeDocument/2006/relationships/image" Target="../media/image29.png" /><Relationship Id="rId25" Type="http://schemas.openxmlformats.org/officeDocument/2006/relationships/image" Target="../media/image30.svg" /><Relationship Id="rId26" Type="http://schemas.openxmlformats.org/officeDocument/2006/relationships/vmlDrawing" Target="../drawings/vmlDrawing12.vml" /><Relationship Id="rId27"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96.png" /><Relationship Id="rId5" Type="http://schemas.openxmlformats.org/officeDocument/2006/relationships/image" Target="../media/image97.sv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98.png" /><Relationship Id="rId9" Type="http://schemas.openxmlformats.org/officeDocument/2006/relationships/image" Target="../media/image99.svg"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6.png" /><Relationship Id="rId10" Type="http://schemas.openxmlformats.org/officeDocument/2006/relationships/image" Target="../media/image119.svg" /><Relationship Id="rId100" Type="http://schemas.openxmlformats.org/officeDocument/2006/relationships/image" Target="../media/image209.svg" /><Relationship Id="rId101" Type="http://schemas.openxmlformats.org/officeDocument/2006/relationships/image" Target="../media/image210.png" /><Relationship Id="rId102" Type="http://schemas.openxmlformats.org/officeDocument/2006/relationships/image" Target="../media/image211.svg" /><Relationship Id="rId103" Type="http://schemas.openxmlformats.org/officeDocument/2006/relationships/image" Target="../media/image212.png" /><Relationship Id="rId104" Type="http://schemas.openxmlformats.org/officeDocument/2006/relationships/image" Target="../media/image213.svg" /><Relationship Id="rId105" Type="http://schemas.openxmlformats.org/officeDocument/2006/relationships/slideMaster" Target="../slideMasters/slideMaster2.xml" /><Relationship Id="rId11" Type="http://schemas.openxmlformats.org/officeDocument/2006/relationships/image" Target="../media/image120.png" /><Relationship Id="rId12" Type="http://schemas.openxmlformats.org/officeDocument/2006/relationships/image" Target="../media/image121.svg" /><Relationship Id="rId13" Type="http://schemas.openxmlformats.org/officeDocument/2006/relationships/image" Target="../media/image122.png" /><Relationship Id="rId14" Type="http://schemas.openxmlformats.org/officeDocument/2006/relationships/image" Target="../media/image123.svg" /><Relationship Id="rId15" Type="http://schemas.openxmlformats.org/officeDocument/2006/relationships/image" Target="../media/image124.png" /><Relationship Id="rId16" Type="http://schemas.openxmlformats.org/officeDocument/2006/relationships/image" Target="../media/image125.svg" /><Relationship Id="rId17" Type="http://schemas.openxmlformats.org/officeDocument/2006/relationships/image" Target="../media/image126.png" /><Relationship Id="rId18" Type="http://schemas.openxmlformats.org/officeDocument/2006/relationships/image" Target="../media/image127.svg" /><Relationship Id="rId19" Type="http://schemas.openxmlformats.org/officeDocument/2006/relationships/image" Target="../media/image128.png" /><Relationship Id="rId2" Type="http://schemas.openxmlformats.org/officeDocument/2006/relationships/image" Target="../media/image37.svg" /><Relationship Id="rId20" Type="http://schemas.openxmlformats.org/officeDocument/2006/relationships/image" Target="../media/image129.svg" /><Relationship Id="rId21" Type="http://schemas.openxmlformats.org/officeDocument/2006/relationships/image" Target="../media/image130.png" /><Relationship Id="rId22" Type="http://schemas.openxmlformats.org/officeDocument/2006/relationships/image" Target="../media/image131.svg" /><Relationship Id="rId23" Type="http://schemas.openxmlformats.org/officeDocument/2006/relationships/image" Target="../media/image132.png" /><Relationship Id="rId24" Type="http://schemas.openxmlformats.org/officeDocument/2006/relationships/image" Target="../media/image133.svg" /><Relationship Id="rId25" Type="http://schemas.openxmlformats.org/officeDocument/2006/relationships/image" Target="../media/image134.png" /><Relationship Id="rId26" Type="http://schemas.openxmlformats.org/officeDocument/2006/relationships/image" Target="../media/image135.svg" /><Relationship Id="rId27" Type="http://schemas.openxmlformats.org/officeDocument/2006/relationships/image" Target="../media/image136.png" /><Relationship Id="rId28" Type="http://schemas.openxmlformats.org/officeDocument/2006/relationships/image" Target="../media/image137.svg" /><Relationship Id="rId29" Type="http://schemas.openxmlformats.org/officeDocument/2006/relationships/image" Target="../media/image138.png" /><Relationship Id="rId3" Type="http://schemas.openxmlformats.org/officeDocument/2006/relationships/image" Target="../media/image14.png" /><Relationship Id="rId30" Type="http://schemas.openxmlformats.org/officeDocument/2006/relationships/image" Target="../media/image139.svg" /><Relationship Id="rId31" Type="http://schemas.openxmlformats.org/officeDocument/2006/relationships/image" Target="../media/image140.png" /><Relationship Id="rId32" Type="http://schemas.openxmlformats.org/officeDocument/2006/relationships/image" Target="../media/image141.svg" /><Relationship Id="rId33" Type="http://schemas.openxmlformats.org/officeDocument/2006/relationships/image" Target="../media/image142.png" /><Relationship Id="rId34" Type="http://schemas.openxmlformats.org/officeDocument/2006/relationships/image" Target="../media/image143.svg" /><Relationship Id="rId35" Type="http://schemas.openxmlformats.org/officeDocument/2006/relationships/image" Target="../media/image144.png" /><Relationship Id="rId36" Type="http://schemas.openxmlformats.org/officeDocument/2006/relationships/image" Target="../media/image145.svg" /><Relationship Id="rId37" Type="http://schemas.openxmlformats.org/officeDocument/2006/relationships/image" Target="../media/image146.png" /><Relationship Id="rId38" Type="http://schemas.openxmlformats.org/officeDocument/2006/relationships/image" Target="../media/image147.svg" /><Relationship Id="rId39" Type="http://schemas.openxmlformats.org/officeDocument/2006/relationships/image" Target="../media/image148.png" /><Relationship Id="rId4" Type="http://schemas.openxmlformats.org/officeDocument/2006/relationships/image" Target="../media/image15.svg" /><Relationship Id="rId40" Type="http://schemas.openxmlformats.org/officeDocument/2006/relationships/image" Target="../media/image149.svg" /><Relationship Id="rId41" Type="http://schemas.openxmlformats.org/officeDocument/2006/relationships/image" Target="../media/image150.png" /><Relationship Id="rId42" Type="http://schemas.openxmlformats.org/officeDocument/2006/relationships/image" Target="../media/image151.svg" /><Relationship Id="rId43" Type="http://schemas.openxmlformats.org/officeDocument/2006/relationships/image" Target="../media/image152.png" /><Relationship Id="rId44" Type="http://schemas.openxmlformats.org/officeDocument/2006/relationships/image" Target="../media/image153.svg" /><Relationship Id="rId45" Type="http://schemas.openxmlformats.org/officeDocument/2006/relationships/image" Target="../media/image154.png" /><Relationship Id="rId46" Type="http://schemas.openxmlformats.org/officeDocument/2006/relationships/image" Target="../media/image155.svg" /><Relationship Id="rId47" Type="http://schemas.openxmlformats.org/officeDocument/2006/relationships/image" Target="../media/image156.png" /><Relationship Id="rId48" Type="http://schemas.openxmlformats.org/officeDocument/2006/relationships/image" Target="../media/image157.svg" /><Relationship Id="rId49" Type="http://schemas.openxmlformats.org/officeDocument/2006/relationships/image" Target="../media/image158.png" /><Relationship Id="rId5" Type="http://schemas.openxmlformats.org/officeDocument/2006/relationships/image" Target="../media/image114.png" /><Relationship Id="rId50" Type="http://schemas.openxmlformats.org/officeDocument/2006/relationships/image" Target="../media/image159.svg" /><Relationship Id="rId51" Type="http://schemas.openxmlformats.org/officeDocument/2006/relationships/image" Target="../media/image160.png" /><Relationship Id="rId52" Type="http://schemas.openxmlformats.org/officeDocument/2006/relationships/image" Target="../media/image161.svg" /><Relationship Id="rId53" Type="http://schemas.openxmlformats.org/officeDocument/2006/relationships/image" Target="../media/image162.png" /><Relationship Id="rId54" Type="http://schemas.openxmlformats.org/officeDocument/2006/relationships/image" Target="../media/image163.svg" /><Relationship Id="rId55" Type="http://schemas.openxmlformats.org/officeDocument/2006/relationships/image" Target="../media/image164.png" /><Relationship Id="rId56" Type="http://schemas.openxmlformats.org/officeDocument/2006/relationships/image" Target="../media/image165.svg" /><Relationship Id="rId57" Type="http://schemas.openxmlformats.org/officeDocument/2006/relationships/image" Target="../media/image166.png" /><Relationship Id="rId58" Type="http://schemas.openxmlformats.org/officeDocument/2006/relationships/image" Target="../media/image167.svg" /><Relationship Id="rId59" Type="http://schemas.openxmlformats.org/officeDocument/2006/relationships/image" Target="../media/image168.png" /><Relationship Id="rId6" Type="http://schemas.openxmlformats.org/officeDocument/2006/relationships/image" Target="../media/image115.svg" /><Relationship Id="rId60" Type="http://schemas.openxmlformats.org/officeDocument/2006/relationships/image" Target="../media/image169.svg" /><Relationship Id="rId61" Type="http://schemas.openxmlformats.org/officeDocument/2006/relationships/image" Target="../media/image170.png" /><Relationship Id="rId62" Type="http://schemas.openxmlformats.org/officeDocument/2006/relationships/image" Target="../media/image171.svg" /><Relationship Id="rId63" Type="http://schemas.openxmlformats.org/officeDocument/2006/relationships/image" Target="../media/image172.png" /><Relationship Id="rId64" Type="http://schemas.openxmlformats.org/officeDocument/2006/relationships/image" Target="../media/image173.svg" /><Relationship Id="rId65" Type="http://schemas.openxmlformats.org/officeDocument/2006/relationships/image" Target="../media/image174.png" /><Relationship Id="rId66" Type="http://schemas.openxmlformats.org/officeDocument/2006/relationships/image" Target="../media/image175.svg" /><Relationship Id="rId67" Type="http://schemas.openxmlformats.org/officeDocument/2006/relationships/image" Target="../media/image176.png" /><Relationship Id="rId68" Type="http://schemas.openxmlformats.org/officeDocument/2006/relationships/image" Target="../media/image177.svg" /><Relationship Id="rId69" Type="http://schemas.openxmlformats.org/officeDocument/2006/relationships/image" Target="../media/image178.png" /><Relationship Id="rId7" Type="http://schemas.openxmlformats.org/officeDocument/2006/relationships/image" Target="../media/image116.png" /><Relationship Id="rId70" Type="http://schemas.openxmlformats.org/officeDocument/2006/relationships/image" Target="../media/image179.svg" /><Relationship Id="rId71" Type="http://schemas.openxmlformats.org/officeDocument/2006/relationships/image" Target="../media/image180.png" /><Relationship Id="rId72" Type="http://schemas.openxmlformats.org/officeDocument/2006/relationships/image" Target="../media/image181.svg" /><Relationship Id="rId73" Type="http://schemas.openxmlformats.org/officeDocument/2006/relationships/image" Target="../media/image182.png" /><Relationship Id="rId74" Type="http://schemas.openxmlformats.org/officeDocument/2006/relationships/image" Target="../media/image183.svg" /><Relationship Id="rId75" Type="http://schemas.openxmlformats.org/officeDocument/2006/relationships/image" Target="../media/image184.png" /><Relationship Id="rId76" Type="http://schemas.openxmlformats.org/officeDocument/2006/relationships/image" Target="../media/image185.svg" /><Relationship Id="rId77" Type="http://schemas.openxmlformats.org/officeDocument/2006/relationships/image" Target="../media/image186.png" /><Relationship Id="rId78" Type="http://schemas.openxmlformats.org/officeDocument/2006/relationships/image" Target="../media/image187.svg" /><Relationship Id="rId79" Type="http://schemas.openxmlformats.org/officeDocument/2006/relationships/image" Target="../media/image188.png" /><Relationship Id="rId8" Type="http://schemas.openxmlformats.org/officeDocument/2006/relationships/image" Target="../media/image117.svg" /><Relationship Id="rId80" Type="http://schemas.openxmlformats.org/officeDocument/2006/relationships/image" Target="../media/image189.svg" /><Relationship Id="rId81" Type="http://schemas.openxmlformats.org/officeDocument/2006/relationships/image" Target="../media/image190.png" /><Relationship Id="rId82" Type="http://schemas.openxmlformats.org/officeDocument/2006/relationships/image" Target="../media/image191.svg" /><Relationship Id="rId83" Type="http://schemas.openxmlformats.org/officeDocument/2006/relationships/image" Target="../media/image192.png" /><Relationship Id="rId84" Type="http://schemas.openxmlformats.org/officeDocument/2006/relationships/image" Target="../media/image193.svg" /><Relationship Id="rId85" Type="http://schemas.openxmlformats.org/officeDocument/2006/relationships/image" Target="../media/image194.png" /><Relationship Id="rId86" Type="http://schemas.openxmlformats.org/officeDocument/2006/relationships/image" Target="../media/image195.svg" /><Relationship Id="rId87" Type="http://schemas.openxmlformats.org/officeDocument/2006/relationships/image" Target="../media/image196.png" /><Relationship Id="rId88" Type="http://schemas.openxmlformats.org/officeDocument/2006/relationships/image" Target="../media/image197.svg" /><Relationship Id="rId89" Type="http://schemas.openxmlformats.org/officeDocument/2006/relationships/image" Target="../media/image198.png" /><Relationship Id="rId9" Type="http://schemas.openxmlformats.org/officeDocument/2006/relationships/image" Target="../media/image118.png" /><Relationship Id="rId90" Type="http://schemas.openxmlformats.org/officeDocument/2006/relationships/image" Target="../media/image199.svg" /><Relationship Id="rId91" Type="http://schemas.openxmlformats.org/officeDocument/2006/relationships/image" Target="../media/image200.png" /><Relationship Id="rId92" Type="http://schemas.openxmlformats.org/officeDocument/2006/relationships/image" Target="../media/image201.svg" /><Relationship Id="rId93" Type="http://schemas.openxmlformats.org/officeDocument/2006/relationships/image" Target="../media/image202.png" /><Relationship Id="rId94" Type="http://schemas.openxmlformats.org/officeDocument/2006/relationships/image" Target="../media/image203.svg" /><Relationship Id="rId95" Type="http://schemas.openxmlformats.org/officeDocument/2006/relationships/image" Target="../media/image204.png" /><Relationship Id="rId96" Type="http://schemas.openxmlformats.org/officeDocument/2006/relationships/image" Target="../media/image205.svg" /><Relationship Id="rId97" Type="http://schemas.openxmlformats.org/officeDocument/2006/relationships/image" Target="../media/image206.png" /><Relationship Id="rId98" Type="http://schemas.openxmlformats.org/officeDocument/2006/relationships/image" Target="../media/image207.svg" /><Relationship Id="rId99" Type="http://schemas.openxmlformats.org/officeDocument/2006/relationships/image" Target="../media/image208.png"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CF7DF3EA-7979-453D-9A2C-52FBAC229F91}"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26B79420-F85E-4C95-9833-A31C5C276B3C}"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100BC923-2EB3-429C-86CB-6C697AA83DD7}"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9EB1185A-3A21-44FC-9064-AEE35F10CB9F}"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29FCE4FD-93ED-48A5-BC3F-E74B559FB01C}" type="datetimeFigureOut">
              <a:rPr lang="en-US" smtClean="0"/>
              <a:t>11/7/2009</a:t>
            </a:fld>
            <a:endParaRPr lang="en-US"/>
          </a:p>
        </p:txBody>
      </p:sp>
      <p:sp>
        <p:nvSpPr>
          <p:cNvPr id="8" name="Footer Placeholder 7" title=""/>
          <p:cNvSpPr txBox="1">
            <a:spLocks noGrp="1"/>
          </p:cNvSpPr>
          <p:nvPr>
            <p:ph type="ftr" sz="quarter" idx="6"/>
          </p:nvPr>
        </p:nvSpPr>
        <p:spPr/>
        <p:txBody>
          <a:bodyPr/>
          <a:lstStyle/>
          <a:p>
            <a:r>
              <a:rPr lang="en-US"/>
              <a:t>Confidential - Customer Success Analysis</a:t>
            </a:r>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06B6EBFC-FD7D-47B7-8AC7-7DFC46BCD00D}" type="datetimeFigureOut">
              <a:rPr lang="en-US" smtClean="0"/>
              <a:t>11/7/2009</a:t>
            </a:fld>
            <a:endParaRPr lang="en-US"/>
          </a:p>
        </p:txBody>
      </p:sp>
      <p:sp>
        <p:nvSpPr>
          <p:cNvPr id="4" name="Footer Placeholder 3" title=""/>
          <p:cNvSpPr txBox="1">
            <a:spLocks noGrp="1"/>
          </p:cNvSpPr>
          <p:nvPr>
            <p:ph type="ftr" sz="quarter" idx="2"/>
          </p:nvPr>
        </p:nvSpPr>
        <p:spPr/>
        <p:txBody>
          <a:bodyPr/>
          <a:lstStyle/>
          <a:p>
            <a:r>
              <a:rPr lang="en-US"/>
              <a:t>Confidential - Customer Success Analysis</a:t>
            </a:r>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F85CB1C1-573C-4AA5-9961-306D8EC0B099}" type="datetimeFigureOut">
              <a:rPr lang="en-US" smtClean="0"/>
              <a:t>11/7/2009</a:t>
            </a:fld>
            <a:endParaRPr lang="en-US"/>
          </a:p>
        </p:txBody>
      </p:sp>
      <p:sp>
        <p:nvSpPr>
          <p:cNvPr id="3" name="Footer Placeholder 2" title=""/>
          <p:cNvSpPr txBox="1">
            <a:spLocks noGrp="1"/>
          </p:cNvSpPr>
          <p:nvPr>
            <p:ph type="ftr" sz="quarter" idx="1"/>
          </p:nvPr>
        </p:nvSpPr>
        <p:spPr/>
        <p:txBody>
          <a:bodyPr/>
          <a:lstStyle/>
          <a:p>
            <a:r>
              <a:rPr lang="en-US"/>
              <a:t>Confidential - Customer Success Analysis</a:t>
            </a:r>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48E9D4AA-D304-4EE7-B850-4AA9C217E7D7}"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FE5EA1CF-AEB9-4458-A198-778694B691D5}"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CA947D9E-D77D-4706-98C2-AC1875D8CCA3}"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C995A5FE-88E1-43A4-ADD9-96F72DDF4702}"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val="2797019399"/>
              </p:ext>
            </p:extLst>
          </p:nvPr>
        </p:nvGraphicFramePr>
        <p:xfrm>
          <a:off x="1191" y="1588"/>
          <a:ext cx="1191" cy="1588"/>
        </p:xfrm>
        <a:graphic>
          <a:graphicData uri="http://schemas.openxmlformats.org/presentationml/2006/ole">
            <mc:AlternateContent>
              <mc:Choice xmlns:v="urn:schemas-microsoft-com:vml" Requires="v">
                <p:oleObj spid="_x0000_s103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503" y="6106409"/>
            <a:ext cx="2256083"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9503" y="6106409"/>
            <a:ext cx="71540"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9525000"/>
            <a:ext cx="13716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942975" y="3360582"/>
            <a:ext cx="11830050" cy="1989137"/>
          </a:xfrm>
          <a:prstGeom prst="rect">
            <a:avLst/>
          </a:prstGeom>
        </p:spPr>
        <p:txBody>
          <a:bodyPr vert="horz"/>
          <a:lstStyle>
            <a:lvl1pPr algn="l">
              <a:defRPr lang="en-US" sz="4613"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314450" y="6210301"/>
            <a:ext cx="1858057" cy="457200"/>
          </a:xfrm>
          <a:prstGeom prst="rect">
            <a:avLst/>
          </a:prstGeom>
        </p:spPr>
        <p:txBody>
          <a:bodyPr/>
          <a:lstStyle>
            <a:lvl1pPr marL="0" indent="0">
              <a:buNone/>
              <a:defRPr lang="en-US" sz="18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1800" kern="1200" smtClean="0">
                <a:solidFill>
                  <a:srgbClr val="FFFFFF"/>
                </a:solidFill>
                <a:latin typeface="Poppins Regular" pitchFamily="34" charset="0"/>
                <a:ea typeface="Poppins Regular" pitchFamily="34" charset="-122"/>
                <a:cs typeface="Poppins Regular" pitchFamily="34" charset="-120"/>
              </a:defRPr>
            </a:lvl2pPr>
            <a:lvl3pPr>
              <a:defRPr lang="en-US" sz="1800" kern="1200" smtClean="0">
                <a:solidFill>
                  <a:srgbClr val="FFFFFF"/>
                </a:solidFill>
                <a:latin typeface="Poppins Regular" pitchFamily="34" charset="0"/>
                <a:ea typeface="Poppins Regular" pitchFamily="34" charset="-122"/>
                <a:cs typeface="Poppins Regular" pitchFamily="34" charset="-120"/>
              </a:defRPr>
            </a:lvl3pPr>
            <a:lvl4pPr>
              <a:defRPr lang="en-US" sz="1800" kern="1200" smtClean="0">
                <a:solidFill>
                  <a:srgbClr val="FFFFFF"/>
                </a:solidFill>
                <a:latin typeface="Poppins Regular" pitchFamily="34" charset="0"/>
                <a:ea typeface="Poppins Regular" pitchFamily="34" charset="-122"/>
                <a:cs typeface="Poppins Regular" pitchFamily="34" charset="-120"/>
              </a:defRPr>
            </a:lvl4pPr>
            <a:lvl5pPr>
              <a:defRPr lang="en-US" sz="18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CEA21CCC-206D-42BB-BCEE-A4847F13D896}" type="slidenum">
              <a:rPr lang="en-US" smtClean="0"/>
              <a:t>‹#›</a:t>
            </a:fld>
            <a:endParaRPr lang="en-US"/>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190535180"/>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Custom Layout">
    <p:spTree>
      <p:nvGrpSpPr>
        <p:cNvPr id="1" name=""/>
        <p:cNvGrpSpPr/>
        <p:nvPr/>
      </p:nvGrpSpPr>
      <p:grpSpPr>
        <a:xfrm>
          <a:off x="0" y="0"/>
          <a: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val="3548965157"/>
              </p:ext>
            </p:extLst>
          </p:nvPr>
        </p:nvGraphicFramePr>
        <p:xfrm>
          <a:off x="1191" y="1588"/>
          <a:ext cx="1191"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5"/>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6"/>
          <a:stretch>
            <a:fillRect/>
          </a:stretch>
        </p:blipFill>
        <p:spPr>
          <a:xfrm>
            <a:off x="0" y="0"/>
            <a:ext cx="9979819"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7"/>
          <a:stretch>
            <a:fillRect/>
          </a:stretch>
        </p:blipFill>
        <p:spPr>
          <a:xfrm>
            <a:off x="0" y="376238"/>
            <a:ext cx="10272713"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8"/>
          <a:stretch>
            <a:fillRect/>
          </a:stretch>
        </p:blipFill>
        <p:spPr>
          <a:xfrm>
            <a:off x="0" y="0"/>
            <a:ext cx="5686425"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380884"/>
            <a:ext cx="6243638"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982716" y="9701938"/>
            <a:ext cx="733284"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733295649"/>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Custom Layout">
    <p:spTree>
      <p:nvGrpSpPr>
        <p:cNvPr id="1" name=""/>
        <p:cNvGrpSpPr/>
        <p:nvPr/>
      </p:nvGrpSpPr>
      <p:grpSpPr>
        <a:xfrm>
          <a:off x="0" y="0"/>
          <a: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val="3013878389"/>
              </p:ext>
            </p:extLst>
          </p:nvPr>
        </p:nvGraphicFramePr>
        <p:xfrm>
          <a:off x="1191" y="1588"/>
          <a:ext cx="1191" cy="1588"/>
        </p:xfrm>
        <a:graphic>
          <a:graphicData uri="http://schemas.openxmlformats.org/presentationml/2006/ole">
            <mc:AlternateContent>
              <mc:Choice xmlns:v="urn:schemas-microsoft-com:vml" Requires="v">
                <p:oleObj spid="_x0000_s1040"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5"/>
          <a:stretch>
            <a:fillRect/>
          </a:stretch>
        </p:blipFill>
        <p:spPr>
          <a:xfrm>
            <a:off x="0" y="0"/>
            <a:ext cx="10465594"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6"/>
          <a:stretch>
            <a:fillRect/>
          </a:stretch>
        </p:blipFill>
        <p:spPr>
          <a:xfrm>
            <a:off x="0" y="376238"/>
            <a:ext cx="10758488"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7"/>
          <a:stretch>
            <a:fillRect/>
          </a:stretch>
        </p:blipFill>
        <p:spPr>
          <a:xfrm>
            <a:off x="0" y="0"/>
            <a:ext cx="61722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107528"/>
            <a:ext cx="6729413"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71950" y="7448550"/>
            <a:ext cx="357188"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479382" y="5905501"/>
            <a:ext cx="250031"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736306" y="3019425"/>
            <a:ext cx="371475"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50119" y="2190750"/>
            <a:ext cx="371475"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984332" y="6410326"/>
            <a:ext cx="3997931"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982716" y="9701938"/>
            <a:ext cx="733284"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7918847" y="3217863"/>
            <a:ext cx="5334000" cy="2471736"/>
          </a:xfrm>
          <a:prstGeom prst="rect">
            <a:avLst/>
          </a:prstGeom>
        </p:spPr>
        <p:txBody>
          <a:bodyPr vert="horz"/>
          <a:lstStyle>
            <a:lvl1pPr algn="l">
              <a:defRPr lang="en-US" sz="56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956017575"/>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Custom Layout">
    <p:spTree>
      <p:nvGrpSpPr>
        <p:cNvPr id="1" name=""/>
        <p:cNvGrpSpPr/>
        <p:nvPr/>
      </p:nvGrpSpPr>
      <p:grpSpPr>
        <a:xfrm>
          <a:off x="0" y="0"/>
          <a: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val="1291453692"/>
              </p:ext>
            </p:extLst>
          </p:nvPr>
        </p:nvGraphicFramePr>
        <p:xfrm>
          <a:off x="1191" y="1588"/>
          <a:ext cx="1191"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824371"/>
            <a:ext cx="11830050" cy="609600"/>
          </a:xfrm>
          <a:prstGeom prst="rect">
            <a:avLst/>
          </a:prstGeom>
        </p:spPr>
        <p:txBody>
          <a:bodyPr vert="horz" rIns="91440"/>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745960" y="2177716"/>
            <a:ext cx="11830050" cy="6585284"/>
          </a:xfrm>
          <a:prstGeom prst="rect">
            <a:avLst/>
          </a:prstGeom>
        </p:spPr>
        <p:txBody>
          <a:bodyPr/>
          <a:lstStyle>
            <a:lvl1pPr marL="214313" marR="0" indent="-214313" algn="l" defTabSz="685800" rtl="0" eaLnBrk="1" fontAlgn="auto" latinLnBrk="0" hangingPunct="1">
              <a:lnSpc>
                <a:spcPts val="1890"/>
              </a:lnSpc>
              <a:spcBef>
                <a:spcPts val="450"/>
              </a:spcBef>
              <a:spcAft>
                <a:spcPts val="450"/>
              </a:spcAft>
              <a:buClrTx/>
              <a:buSzPct val="80000"/>
              <a:buFontTx/>
              <a:buBlip>
                <a:blip r:embed="rId7">
                  <a:extLst>
                    <a:ext uri="{96DAC541-7B7A-43D3-8B79-37D633B846F1}">
                      <asvg:svgBlip xmlns:asvg="http://schemas.microsoft.com/office/drawing/2016/SVG/main" r:embed="rId8"/>
                    </a:ext>
                  </a:extLst>
                </a:blip>
              </a:buBlip>
              <a:defRPr lang="en-US" sz="15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450"/>
              </a:spcBef>
              <a:spcAft>
                <a:spcPts val="450"/>
              </a:spcAft>
              <a:defRPr lang="en-US" sz="135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450"/>
              </a:spcBef>
              <a:spcAft>
                <a:spcPts val="450"/>
              </a:spcAft>
              <a:defRPr lang="en-US" sz="12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028700" indent="0">
              <a:spcBef>
                <a:spcPts val="450"/>
              </a:spcBef>
              <a:spcAft>
                <a:spcPts val="450"/>
              </a:spcAft>
              <a:buNone/>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557213" marR="0" lvl="1"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214313" marR="0" lvl="0"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1200150" marR="0" lvl="3"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757556152"/>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val="3840344968"/>
              </p:ext>
            </p:extLst>
          </p:nvPr>
        </p:nvGraphicFramePr>
        <p:xfrm>
          <a:off x="1191" y="1588"/>
          <a:ext cx="1191" cy="1588"/>
        </p:xfrm>
        <a:graphic>
          <a:graphicData uri="http://schemas.openxmlformats.org/presentationml/2006/ole">
            <mc:AlternateContent>
              <mc:Choice xmlns:v="urn:schemas-microsoft-com:vml" Requires="v">
                <p:oleObj spid="_x0000_s1042"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436193130"/>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val="2275021505"/>
              </p:ext>
            </p:extLst>
          </p:nvPr>
        </p:nvGraphicFramePr>
        <p:xfrm>
          <a:off x="1191" y="1588"/>
          <a:ext cx="1191" cy="1588"/>
        </p:xfrm>
        <a:graphic>
          <a:graphicData uri="http://schemas.openxmlformats.org/presentationml/2006/ole">
            <mc:AlternateContent>
              <mc:Choice xmlns:v="urn:schemas-microsoft-com:vml" Requires="v">
                <p:oleObj spid="_x0000_s1043"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4407" y="1943101"/>
            <a:ext cx="478631"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082" y="1943101"/>
            <a:ext cx="478631"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79469" y="1943101"/>
            <a:ext cx="478631"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94144" y="1943101"/>
            <a:ext cx="478631"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4743450"/>
            <a:ext cx="2957513"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929437" y="4743450"/>
            <a:ext cx="2957513"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829050" y="4743450"/>
            <a:ext cx="2957513"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044112" y="4743450"/>
            <a:ext cx="2957513"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114425" y="2114551"/>
            <a:ext cx="178594"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01</a:t>
            </a:r>
            <a:endParaRPr lang="en-US" sz="1238">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4214813" y="2114551"/>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308056" y="2114551"/>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422732" y="2114551"/>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876300"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4020741"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7107436"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0220325"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876300"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4002881"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7107436"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0236994"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856034188"/>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3_Custom Layout">
    <p:spTree>
      <p:nvGrpSpPr>
        <p:cNvPr id="1" name=""/>
        <p:cNvGrpSpPr/>
        <p:nvPr/>
      </p:nvGrpSpPr>
      <p:grpSpPr>
        <a:xfrm>
          <a:off x="0" y="0"/>
          <a: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val="2146504057"/>
              </p:ext>
            </p:extLst>
          </p:nvPr>
        </p:nvGraphicFramePr>
        <p:xfrm>
          <a:off x="1191" y="1588"/>
          <a:ext cx="1191" cy="1588"/>
        </p:xfrm>
        <a:graphic>
          <a:graphicData uri="http://schemas.openxmlformats.org/presentationml/2006/ole">
            <mc:AlternateContent>
              <mc:Choice xmlns:v="urn:schemas-microsoft-com:vml" Requires="v">
                <p:oleObj spid="_x0000_s1044"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929062" y="3633533"/>
            <a:ext cx="5613860"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4413335" y="1849852"/>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506578" y="1849852"/>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621254" y="1849852"/>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7475594"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7368570"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104" y="3633533"/>
            <a:ext cx="5613860"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469636"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362612"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613106349"/>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val="1401204833"/>
              </p:ext>
            </p:extLst>
          </p:nvPr>
        </p:nvGraphicFramePr>
        <p:xfrm>
          <a:off x="1191" y="1588"/>
          <a:ext cx="1191" cy="1588"/>
        </p:xfrm>
        <a:graphic>
          <a:graphicData uri="http://schemas.openxmlformats.org/presentationml/2006/ole">
            <mc:AlternateContent>
              <mc:Choice xmlns:v="urn:schemas-microsoft-com:vml" Requires="v">
                <p:oleObj spid="_x0000_s1045"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4375" y="2362201"/>
            <a:ext cx="3964781"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136107" y="6324601"/>
            <a:ext cx="3964781"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36844" y="2362201"/>
            <a:ext cx="3964781"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86326" y="2362201"/>
            <a:ext cx="3964781"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308057" y="6324601"/>
            <a:ext cx="3964781"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14375" y="2362201"/>
            <a:ext cx="3964781"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136107" y="6324601"/>
            <a:ext cx="3964781"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886326" y="2362201"/>
            <a:ext cx="3964781"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308057" y="6324601"/>
            <a:ext cx="3964781"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036844" y="2362201"/>
            <a:ext cx="3964781"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5838" y="2076450"/>
            <a:ext cx="371475"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07569" y="6038850"/>
            <a:ext cx="371475"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107281" y="2266950"/>
            <a:ext cx="128588"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529012" y="6229350"/>
            <a:ext cx="128588"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2">
            <a:extLst>
              <a:ext uri="{96DAC541-7B7A-43D3-8B79-37D633B846F1}">
                <asvg:svgBlip xmlns:asvg="http://schemas.microsoft.com/office/drawing/2016/SVG/main" r:embed="rId16"/>
              </a:ext>
            </a:extLst>
          </a:blip>
          <a:stretch>
            <a:fillRect/>
          </a:stretch>
        </p:blipFill>
        <p:spPr>
          <a:xfrm>
            <a:off x="5157788" y="2076450"/>
            <a:ext cx="371475"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2">
            <a:extLst>
              <a:ext uri="{96DAC541-7B7A-43D3-8B79-37D633B846F1}">
                <asvg:svgBlip xmlns:asvg="http://schemas.microsoft.com/office/drawing/2016/SVG/main" r:embed="rId17"/>
              </a:ext>
            </a:extLst>
          </a:blip>
          <a:stretch>
            <a:fillRect/>
          </a:stretch>
        </p:blipFill>
        <p:spPr>
          <a:xfrm>
            <a:off x="7579519" y="6038850"/>
            <a:ext cx="371475"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08306" y="2076450"/>
            <a:ext cx="371475"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279231" y="2266950"/>
            <a:ext cx="128588"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700962" y="6229350"/>
            <a:ext cx="128588"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429750" y="2266950"/>
            <a:ext cx="128588"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917972"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5083209"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9229725"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3342844"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7512412"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89892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507087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9221391"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333331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750526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313915620"/>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val="319298360"/>
              </p:ext>
            </p:extLst>
          </p:nvPr>
        </p:nvGraphicFramePr>
        <p:xfrm>
          <a:off x="1191" y="1588"/>
          <a:ext cx="1191" cy="1588"/>
        </p:xfrm>
        <a:graphic>
          <a:graphicData uri="http://schemas.openxmlformats.org/presentationml/2006/ole">
            <mc:AlternateContent>
              <mc:Choice xmlns:v="urn:schemas-microsoft-com:vml" Requires="v">
                <p:oleObj spid="_x0000_s1046"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5"/>
          <a:stretch>
            <a:fillRect/>
          </a:stretch>
        </p:blipFill>
        <p:spPr>
          <a:xfrm>
            <a:off x="457200" y="1314450"/>
            <a:ext cx="53721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1600201"/>
            <a:ext cx="9579769"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3562351"/>
            <a:ext cx="9579769"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5524501"/>
            <a:ext cx="9579769"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7486651"/>
            <a:ext cx="9579769"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1600201"/>
            <a:ext cx="1628775"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3562351"/>
            <a:ext cx="1628775"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5524501"/>
            <a:ext cx="1628775"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7486651"/>
            <a:ext cx="1628775"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1600201"/>
            <a:ext cx="5715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3562351"/>
            <a:ext cx="5715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5524501"/>
            <a:ext cx="5715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7486651"/>
            <a:ext cx="5715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07269" y="2390775"/>
            <a:ext cx="62865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23170" y="2643857"/>
            <a:ext cx="196850"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916782" y="3524249"/>
            <a:ext cx="2233613" cy="4419600"/>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042987" y="8267700"/>
            <a:ext cx="1925405"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3611166" y="1964172"/>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3611166" y="39696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3611166" y="5911273"/>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3611166" y="7916287"/>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5264943" y="1925061"/>
            <a:ext cx="7227887" cy="332364"/>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5505053" y="2394311"/>
            <a:ext cx="7227887"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5264943" y="3778755"/>
            <a:ext cx="7227887" cy="614358"/>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5505053"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8615362"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5264943" y="5811734"/>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5264943" y="7804876"/>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628650" y="634637"/>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19512819"/>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val="724158819"/>
              </p:ext>
            </p:extLst>
          </p:nvPr>
        </p:nvGraphicFramePr>
        <p:xfrm>
          <a:off x="1191" y="1588"/>
          <a:ext cx="1191" cy="1588"/>
        </p:xfrm>
        <a:graphic>
          <a:graphicData uri="http://schemas.openxmlformats.org/presentationml/2006/ole">
            <mc:AlternateContent>
              <mc:Choice xmlns:v="urn:schemas-microsoft-com:vml" Requires="v">
                <p:oleObj spid="_x0000_s1047"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33752"/>
            <a:ext cx="13716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5"/>
          <a:stretch>
            <a:fillRect/>
          </a:stretch>
        </p:blipFill>
        <p:spPr>
          <a:xfrm>
            <a:off x="465614" y="1428064"/>
            <a:ext cx="53721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42987" y="7391401"/>
            <a:ext cx="1925405"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2162175"/>
            <a:ext cx="9579769"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7" y="4724400"/>
            <a:ext cx="9579769"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2162175"/>
            <a:ext cx="1628775"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421856" y="4724400"/>
            <a:ext cx="1628775"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07269" y="3181350"/>
            <a:ext cx="62865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421856" y="2162175"/>
            <a:ext cx="5715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421856" y="4724400"/>
            <a:ext cx="5715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210651" y="3433474"/>
            <a:ext cx="246674"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916782" y="4313672"/>
            <a:ext cx="2233613" cy="2508228"/>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3611166" y="28012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3611166" y="6163686"/>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5264943" y="2585784"/>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5264943" y="5177253"/>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5505053" y="6915772"/>
            <a:ext cx="7227887" cy="719426"/>
          </a:xfrm>
          <a:prstGeom prst="rect">
            <a:avLst/>
          </a:prstGeom>
        </p:spPr>
        <p:txBody>
          <a:bodyPr/>
          <a:lstStyle>
            <a:lvl1pPr marL="171450" marR="0" indent="-171450" algn="l" defTabSz="685800" rtl="0" eaLnBrk="1" fontAlgn="auto" latinLnBrk="0" hangingPunct="1">
              <a:lnSpc>
                <a:spcPts val="1800"/>
              </a:lnSpc>
              <a:spcBef>
                <a:spcPct val="0"/>
              </a:spcBef>
              <a:spcAft>
                <a:spcPts val="900"/>
              </a:spcAft>
              <a:buClr>
                <a:srgbClr val="CBDDDF"/>
              </a:buClr>
              <a:buSzTx/>
              <a:buFont typeface="+mj-lt"/>
              <a:buAutoNum type="arabicPeriod"/>
              <a:defRPr lang="en-US" sz="1298"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805937435"/>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val="1259085054"/>
              </p:ext>
            </p:extLst>
          </p:nvPr>
        </p:nvGraphicFramePr>
        <p:xfrm>
          <a:off x="1191" y="1588"/>
          <a:ext cx="1191" cy="1588"/>
        </p:xfrm>
        <a:graphic>
          <a:graphicData uri="http://schemas.openxmlformats.org/presentationml/2006/ole">
            <mc:AlternateContent>
              <mc:Choice xmlns:v="urn:schemas-microsoft-com:vml" Requires="v">
                <p:oleObj spid="_x0000_s104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2619376"/>
            <a:ext cx="5522119"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557962" y="2619376"/>
            <a:ext cx="6443663"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557962" y="6172200"/>
            <a:ext cx="6443663"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185863" y="5638800"/>
            <a:ext cx="440055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85863" y="7086601"/>
            <a:ext cx="440055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5229225"/>
            <a:ext cx="1020005"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7188541" y="2096291"/>
            <a:ext cx="355259"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5693569" y="6086475"/>
            <a:ext cx="364331"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01</a:t>
            </a:r>
            <a:endParaRPr lang="en-US" sz="1519">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5693569" y="7734300"/>
            <a:ext cx="2571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02</a:t>
            </a:r>
            <a:endParaRPr lang="en-US" sz="1519">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1676400"/>
            <a:ext cx="1020005"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014413" y="1676400"/>
            <a:ext cx="1020005"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107382" y="3448049"/>
            <a:ext cx="4479031" cy="1952625"/>
          </a:xfrm>
          <a:prstGeom prst="rect">
            <a:avLst/>
          </a:prstGeom>
        </p:spPr>
        <p:txBody>
          <a:bodyPr/>
          <a:lstStyle>
            <a:lvl1pPr marL="0" indent="0">
              <a:lnSpc>
                <a:spcPts val="2279"/>
              </a:lnSpc>
              <a:buNone/>
              <a:defRPr lang="en-US" sz="1519"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6950869" y="3435098"/>
            <a:ext cx="5657750" cy="1357267"/>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6950869" y="7027092"/>
            <a:ext cx="5657750" cy="1583509"/>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419192" y="5896611"/>
            <a:ext cx="3700362" cy="741678"/>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419192" y="7328236"/>
            <a:ext cx="3700362" cy="1129963"/>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91165017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val="3278524844"/>
              </p:ext>
            </p:extLst>
          </p:nvPr>
        </p:nvGraphicFramePr>
        <p:xfrm>
          <a:off x="1191" y="1588"/>
          <a:ext cx="1191" cy="1588"/>
        </p:xfrm>
        <a:graphic>
          <a:graphicData uri="http://schemas.openxmlformats.org/presentationml/2006/ole">
            <mc:AlternateContent>
              <mc:Choice xmlns:v="urn:schemas-microsoft-com:vml" Requires="v">
                <p:oleObj spid="_x0000_s1049"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14375" y="3819525"/>
            <a:ext cx="4900613"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79581" y="3819525"/>
            <a:ext cx="4900613"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2657476"/>
            <a:ext cx="4900613"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079581" y="2657476"/>
            <a:ext cx="4900613"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50756" y="5200651"/>
            <a:ext cx="16002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015038" y="5715001"/>
            <a:ext cx="78581"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558088" y="5581650"/>
            <a:ext cx="164306"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6043613" y="6200776"/>
            <a:ext cx="16002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593807" y="6124576"/>
            <a:ext cx="78581"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5972176" y="6134100"/>
            <a:ext cx="164306"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922044" y="2819400"/>
            <a:ext cx="471488"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2287250" y="2819400"/>
            <a:ext cx="471488"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932635"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8322470"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95726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832187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401356660"/>
      </p:ext>
    </p:extLst>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Custom Layout">
    <p:spTree>
      <p:nvGrpSpPr>
        <p:cNvPr id="1" name=""/>
        <p:cNvGrpSpPr/>
        <p:nvPr/>
      </p:nvGrpSpPr>
      <p:grpSpPr>
        <a:xfrm>
          <a:off x="0" y="0"/>
          <a: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2000250"/>
            <a:ext cx="62865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4657725"/>
            <a:ext cx="62865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3314700"/>
            <a:ext cx="62865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5972175"/>
            <a:ext cx="62865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2000250"/>
            <a:ext cx="62865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4657725"/>
            <a:ext cx="62865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3314700"/>
            <a:ext cx="62865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5972175"/>
            <a:ext cx="62865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2000250"/>
            <a:ext cx="62865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4657725"/>
            <a:ext cx="62865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3314700"/>
            <a:ext cx="62865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5972175"/>
            <a:ext cx="62865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2000250"/>
            <a:ext cx="62865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4657725"/>
            <a:ext cx="62865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3314700"/>
            <a:ext cx="62865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5972175"/>
            <a:ext cx="62865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2000250"/>
            <a:ext cx="62865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4657725"/>
            <a:ext cx="62865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3314700"/>
            <a:ext cx="62865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5972175"/>
            <a:ext cx="62865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2000250"/>
            <a:ext cx="62865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4657725"/>
            <a:ext cx="62865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3314700"/>
            <a:ext cx="62865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5972175"/>
            <a:ext cx="62865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2000250"/>
            <a:ext cx="62865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4657725"/>
            <a:ext cx="62865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3314700"/>
            <a:ext cx="62865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5972175"/>
            <a:ext cx="62865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2000250"/>
            <a:ext cx="62865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4657725"/>
            <a:ext cx="62865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3314700"/>
            <a:ext cx="62865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5972175"/>
            <a:ext cx="62865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2000250"/>
            <a:ext cx="62865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4657725"/>
            <a:ext cx="62865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3314700"/>
            <a:ext cx="62865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5972175"/>
            <a:ext cx="62865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2000250"/>
            <a:ext cx="62865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4657725"/>
            <a:ext cx="62865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3314700"/>
            <a:ext cx="62865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5972175"/>
            <a:ext cx="62865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2000250"/>
            <a:ext cx="62865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4657725"/>
            <a:ext cx="62865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3314700"/>
            <a:ext cx="62865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5972175"/>
            <a:ext cx="62865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2000250"/>
            <a:ext cx="62865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4657725"/>
            <a:ext cx="62865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3314700"/>
            <a:ext cx="62865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5972175"/>
            <a:ext cx="62865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07256" y="2247900"/>
            <a:ext cx="247959"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07256" y="4905375"/>
            <a:ext cx="247959"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925638" y="2266765"/>
            <a:ext cx="174625"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925638" y="4924240"/>
            <a:ext cx="174625"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2914650" y="2281517"/>
            <a:ext cx="210526"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2914650" y="4938992"/>
            <a:ext cx="210526"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3857625" y="2257426"/>
            <a:ext cx="264319"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3857625" y="4914901"/>
            <a:ext cx="264319"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907256" y="3619500"/>
            <a:ext cx="257175"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907256" y="6276975"/>
            <a:ext cx="257175"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1893094" y="3571875"/>
            <a:ext cx="243674"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893094" y="6229350"/>
            <a:ext cx="243674"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2873717" y="3555617"/>
            <a:ext cx="255246"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2873717" y="6213092"/>
            <a:ext cx="255246"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3886201" y="3600451"/>
            <a:ext cx="19973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a:xfrm>
            <a:off x="3886201" y="6257926"/>
            <a:ext cx="19973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4872038" y="3600990"/>
            <a:ext cx="2286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4872038" y="6258465"/>
            <a:ext cx="2286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4855179" y="2257389"/>
            <a:ext cx="24545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4855179" y="4914864"/>
            <a:ext cx="24545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5826800" y="2247901"/>
            <a:ext cx="26681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5826800" y="4905376"/>
            <a:ext cx="26681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3">
            <a:extLst>
              <a:ext uri="{96DAC541-7B7A-43D3-8B79-37D633B846F1}">
                <asvg:svgBlip xmlns:asvg="http://schemas.microsoft.com/office/drawing/2016/SVG/main" r:embed="rId54"/>
              </a:ext>
            </a:extLst>
          </a:blip>
          <a:stretch>
            <a:fillRect/>
          </a:stretch>
        </p:blipFill>
        <p:spPr>
          <a:xfrm>
            <a:off x="5850731" y="3562350"/>
            <a:ext cx="21774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a:xfrm>
            <a:off x="5850731" y="6219825"/>
            <a:ext cx="21774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a:xfrm>
            <a:off x="6855428" y="2269275"/>
            <a:ext cx="181166"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6855428" y="4926750"/>
            <a:ext cx="181166"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1">
            <a:extLst>
              <a:ext uri="{96DAC541-7B7A-43D3-8B79-37D633B846F1}">
                <asvg:svgBlip xmlns:asvg="http://schemas.microsoft.com/office/drawing/2016/SVG/main" r:embed="rId62"/>
              </a:ext>
            </a:extLst>
          </a:blip>
          <a:stretch>
            <a:fillRect/>
          </a:stretch>
        </p:blipFill>
        <p:spPr>
          <a:xfrm>
            <a:off x="6843713" y="3569327"/>
            <a:ext cx="192881"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6843713" y="6226802"/>
            <a:ext cx="192881"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5">
            <a:extLst>
              <a:ext uri="{96DAC541-7B7A-43D3-8B79-37D633B846F1}">
                <asvg:svgBlip xmlns:asvg="http://schemas.microsoft.com/office/drawing/2016/SVG/main" r:embed="rId66"/>
              </a:ext>
            </a:extLst>
          </a:blip>
          <a:stretch>
            <a:fillRect/>
          </a:stretch>
        </p:blipFill>
        <p:spPr>
          <a:xfrm>
            <a:off x="7815263" y="2266951"/>
            <a:ext cx="233815"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7">
            <a:extLst>
              <a:ext uri="{96DAC541-7B7A-43D3-8B79-37D633B846F1}">
                <asvg:svgBlip xmlns:asvg="http://schemas.microsoft.com/office/drawing/2016/SVG/main" r:embed="rId68"/>
              </a:ext>
            </a:extLst>
          </a:blip>
          <a:stretch>
            <a:fillRect/>
          </a:stretch>
        </p:blipFill>
        <p:spPr>
          <a:xfrm>
            <a:off x="7815263" y="4924426"/>
            <a:ext cx="233815"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69">
            <a:extLst>
              <a:ext uri="{96DAC541-7B7A-43D3-8B79-37D633B846F1}">
                <asvg:svgBlip xmlns:asvg="http://schemas.microsoft.com/office/drawing/2016/SVG/main" r:embed="rId70"/>
              </a:ext>
            </a:extLst>
          </a:blip>
          <a:stretch>
            <a:fillRect/>
          </a:stretch>
        </p:blipFill>
        <p:spPr>
          <a:xfrm>
            <a:off x="7845052" y="3598497"/>
            <a:ext cx="205955"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1">
            <a:extLst>
              <a:ext uri="{96DAC541-7B7A-43D3-8B79-37D633B846F1}">
                <asvg:svgBlip xmlns:asvg="http://schemas.microsoft.com/office/drawing/2016/SVG/main" r:embed="rId72"/>
              </a:ext>
            </a:extLst>
          </a:blip>
          <a:stretch>
            <a:fillRect/>
          </a:stretch>
        </p:blipFill>
        <p:spPr>
          <a:xfrm>
            <a:off x="7845052" y="6255972"/>
            <a:ext cx="205955"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a:xfrm>
            <a:off x="8785813" y="2282577"/>
            <a:ext cx="26531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5">
            <a:extLst>
              <a:ext uri="{96DAC541-7B7A-43D3-8B79-37D633B846F1}">
                <asvg:svgBlip xmlns:asvg="http://schemas.microsoft.com/office/drawing/2016/SVG/main" r:embed="rId76"/>
              </a:ext>
            </a:extLst>
          </a:blip>
          <a:stretch>
            <a:fillRect/>
          </a:stretch>
        </p:blipFill>
        <p:spPr>
          <a:xfrm>
            <a:off x="8785813" y="4940052"/>
            <a:ext cx="26531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a:xfrm>
            <a:off x="8786812" y="3562351"/>
            <a:ext cx="256175"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79">
            <a:extLst>
              <a:ext uri="{96DAC541-7B7A-43D3-8B79-37D633B846F1}">
                <asvg:svgBlip xmlns:asvg="http://schemas.microsoft.com/office/drawing/2016/SVG/main" r:embed="rId80"/>
              </a:ext>
            </a:extLst>
          </a:blip>
          <a:stretch>
            <a:fillRect/>
          </a:stretch>
        </p:blipFill>
        <p:spPr>
          <a:xfrm>
            <a:off x="8786812" y="6219826"/>
            <a:ext cx="256175"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9794081" y="2286001"/>
            <a:ext cx="213527"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3">
            <a:extLst>
              <a:ext uri="{96DAC541-7B7A-43D3-8B79-37D633B846F1}">
                <asvg:svgBlip xmlns:asvg="http://schemas.microsoft.com/office/drawing/2016/SVG/main" r:embed="rId84"/>
              </a:ext>
            </a:extLst>
          </a:blip>
          <a:stretch>
            <a:fillRect/>
          </a:stretch>
        </p:blipFill>
        <p:spPr>
          <a:xfrm>
            <a:off x="9794081" y="4943476"/>
            <a:ext cx="213527"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5">
            <a:extLst>
              <a:ext uri="{96DAC541-7B7A-43D3-8B79-37D633B846F1}">
                <asvg:svgBlip xmlns:asvg="http://schemas.microsoft.com/office/drawing/2016/SVG/main" r:embed="rId86"/>
              </a:ext>
            </a:extLst>
          </a:blip>
          <a:stretch>
            <a:fillRect/>
          </a:stretch>
        </p:blipFill>
        <p:spPr>
          <a:xfrm>
            <a:off x="9784152" y="3568136"/>
            <a:ext cx="231386"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7">
            <a:extLst>
              <a:ext uri="{96DAC541-7B7A-43D3-8B79-37D633B846F1}">
                <asvg:svgBlip xmlns:asvg="http://schemas.microsoft.com/office/drawing/2016/SVG/main" r:embed="rId88"/>
              </a:ext>
            </a:extLst>
          </a:blip>
          <a:stretch>
            <a:fillRect/>
          </a:stretch>
        </p:blipFill>
        <p:spPr>
          <a:xfrm>
            <a:off x="9784152" y="6225611"/>
            <a:ext cx="231386"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89">
            <a:extLst>
              <a:ext uri="{96DAC541-7B7A-43D3-8B79-37D633B846F1}">
                <asvg:svgBlip xmlns:asvg="http://schemas.microsoft.com/office/drawing/2016/SVG/main" r:embed="rId90"/>
              </a:ext>
            </a:extLst>
          </a:blip>
          <a:stretch>
            <a:fillRect/>
          </a:stretch>
        </p:blipFill>
        <p:spPr>
          <a:xfrm>
            <a:off x="10768703" y="2242450"/>
            <a:ext cx="232672"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1">
            <a:extLst>
              <a:ext uri="{96DAC541-7B7A-43D3-8B79-37D633B846F1}">
                <asvg:svgBlip xmlns:asvg="http://schemas.microsoft.com/office/drawing/2016/SVG/main" r:embed="rId92"/>
              </a:ext>
            </a:extLst>
          </a:blip>
          <a:stretch>
            <a:fillRect/>
          </a:stretch>
        </p:blipFill>
        <p:spPr>
          <a:xfrm>
            <a:off x="10768703" y="4899925"/>
            <a:ext cx="232672"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3">
            <a:extLst>
              <a:ext uri="{96DAC541-7B7A-43D3-8B79-37D633B846F1}">
                <asvg:svgBlip xmlns:asvg="http://schemas.microsoft.com/office/drawing/2016/SVG/main" r:embed="rId94"/>
              </a:ext>
            </a:extLst>
          </a:blip>
          <a:stretch>
            <a:fillRect/>
          </a:stretch>
        </p:blipFill>
        <p:spPr>
          <a:xfrm>
            <a:off x="10758274" y="3544305"/>
            <a:ext cx="264533"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5">
            <a:extLst>
              <a:ext uri="{96DAC541-7B7A-43D3-8B79-37D633B846F1}">
                <asvg:svgBlip xmlns:asvg="http://schemas.microsoft.com/office/drawing/2016/SVG/main" r:embed="rId96"/>
              </a:ext>
            </a:extLst>
          </a:blip>
          <a:stretch>
            <a:fillRect/>
          </a:stretch>
        </p:blipFill>
        <p:spPr>
          <a:xfrm>
            <a:off x="10758274" y="6201780"/>
            <a:ext cx="264533"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7">
            <a:extLst>
              <a:ext uri="{96DAC541-7B7A-43D3-8B79-37D633B846F1}">
                <asvg:svgBlip xmlns:asvg="http://schemas.microsoft.com/office/drawing/2016/SVG/main" r:embed="rId98"/>
              </a:ext>
            </a:extLst>
          </a:blip>
          <a:stretch>
            <a:fillRect/>
          </a:stretch>
        </p:blipFill>
        <p:spPr>
          <a:xfrm>
            <a:off x="11751469" y="2257426"/>
            <a:ext cx="239169"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99">
            <a:extLst>
              <a:ext uri="{96DAC541-7B7A-43D3-8B79-37D633B846F1}">
                <asvg:svgBlip xmlns:asvg="http://schemas.microsoft.com/office/drawing/2016/SVG/main" r:embed="rId100"/>
              </a:ext>
            </a:extLst>
          </a:blip>
          <a:stretch>
            <a:fillRect/>
          </a:stretch>
        </p:blipFill>
        <p:spPr>
          <a:xfrm>
            <a:off x="11751469" y="4914901"/>
            <a:ext cx="239169"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1">
            <a:extLst>
              <a:ext uri="{96DAC541-7B7A-43D3-8B79-37D633B846F1}">
                <asvg:svgBlip xmlns:asvg="http://schemas.microsoft.com/office/drawing/2016/SVG/main" r:embed="rId102"/>
              </a:ext>
            </a:extLst>
          </a:blip>
          <a:stretch>
            <a:fillRect/>
          </a:stretch>
        </p:blipFill>
        <p:spPr>
          <a:xfrm>
            <a:off x="11735825" y="3551020"/>
            <a:ext cx="279964"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3">
            <a:extLst>
              <a:ext uri="{96DAC541-7B7A-43D3-8B79-37D633B846F1}">
                <asvg:svgBlip xmlns:asvg="http://schemas.microsoft.com/office/drawing/2016/SVG/main" r:embed="rId104"/>
              </a:ext>
            </a:extLst>
          </a:blip>
          <a:stretch>
            <a:fillRect/>
          </a:stretch>
        </p:blipFill>
        <p:spPr>
          <a:xfrm>
            <a:off x="11735825" y="6208495"/>
            <a:ext cx="279964"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700087" y="885825"/>
            <a:ext cx="10158413"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600"/>
              </a:lnSpc>
              <a:buNone/>
            </a:pPr>
            <a:r>
              <a:rPr lang="en-US" sz="2531" b="1">
                <a:solidFill>
                  <a:srgbClr val="0A6F75"/>
                </a:solidFill>
                <a:latin typeface="Century Gothic" panose="020b0502020202020204" pitchFamily="34" charset="0"/>
                <a:ea typeface="Poppins SemiBold" pitchFamily="34" charset="-122"/>
                <a:cs typeface="Poppins SemiBold" pitchFamily="34" charset="-120"/>
              </a:rPr>
              <a:t>Icons</a:t>
            </a:r>
            <a:endParaRPr lang="en-US" sz="2531" b="1">
              <a:latin typeface="Century Gothic" panose="020b0502020202020204" pitchFamily="34" charset="0"/>
            </a:endParaRPr>
          </a:p>
        </p:txBody>
      </p:sp>
      <p:sp>
        <p:nvSpPr>
          <p:cNvPr id="130"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010181959"/>
      </p:ext>
    </p:extLst>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942975" y="547689"/>
            <a:ext cx="1183005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942975" y="2738438"/>
            <a:ext cx="1183005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F3A0E6FD-A92D-4DE8-948A-3C940DF8A64B}" type="slidenum">
              <a:rPr lang="en-US" smtClean="0"/>
              <a:t>‹#›</a:t>
            </a:fld>
            <a:endParaRPr lang="en-US"/>
          </a:p>
        </p:txBody>
      </p:sp>
      <p:sp>
        <p:nvSpPr>
          <p:cNvPr id="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04209454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slideLayout" Target="../slideLayouts/slideLayout23.xml" /><Relationship Id="rId13" Type="http://schemas.openxmlformats.org/officeDocument/2006/relationships/slideLayout" Target="../slideLayouts/slideLayout24.xml" /><Relationship Id="rId14" Type="http://schemas.openxmlformats.org/officeDocument/2006/relationships/slideLayout" Target="../slideLayouts/slideLayout25.xml" /><Relationship Id="rId15" Type="http://schemas.openxmlformats.org/officeDocument/2006/relationships/tags" Target="../tags/tag15.xml" /><Relationship Id="rId16" Type="http://schemas.openxmlformats.org/officeDocument/2006/relationships/oleObject" Target="../embeddings/oleObject1.bin" TargetMode="Internal" /><Relationship Id="rId17" Type="http://schemas.openxmlformats.org/officeDocument/2006/relationships/image" Target="../media/image1.emf" /><Relationship Id="rId18" Type="http://schemas.openxmlformats.org/officeDocument/2006/relationships/vmlDrawing" Target="../drawings/vmlDrawing13.vml" /><Relationship Id="rId19"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5"/>
            </p:custDataLst>
            <p:extLst>
              <p:ext uri="{D42A27DB-BD31-4B8C-83A1-F6EECF244321}">
                <p14:modId val="2149929528"/>
              </p:ext>
            </p:extLst>
          </p:nvPr>
        </p:nvGraphicFramePr>
        <p:xfrm>
          <a:off x="1191" y="1588"/>
          <a:ext cx="1191" cy="1588"/>
        </p:xfrm>
        <a:graphic>
          <a:graphicData uri="http://schemas.openxmlformats.org/presentationml/2006/ole">
            <mc:AlternateContent>
              <mc:Choice xmlns:v="urn:schemas-microsoft-com:vml" Requires="v">
                <p:oleObj spid="_x0000_s1050" name="think-cell Slide" r:id="rId16" imgW="484" imgH="486" progId="TCLayout.ActiveDocument.1">
                  <p:embed/>
                </p:oleObj>
              </mc:Choice>
              <mc:Fallback>
                <p:oleObj name="think-cell Slide" r:id="rId16" imgW="484" imgH="486" progId="TCLayout.ActiveDocument.1">
                  <p:embed/>
                  <p:pic>
                    <p:nvPicPr>
                      <p:cNvPr id="0" name="OLE substitute image"/>
                      <p:cNvPicPr/>
                      <p:nvPr/>
                    </p:nvPicPr>
                    <p:blipFill>
                      <a:blip r:embed="rId17"/>
                      <a:stretch>
                        <a:fillRect/>
                      </a:stretch>
                    </p:blipFill>
                    <p:spPr>
                      <a:xfrm>
                        <a:off x="1191" y="1588"/>
                        <a:ext cx="1191" cy="1588"/>
                      </a:xfrm>
                      <a:prstGeom prst="rect">
                        <a:avLst/>
                      </a:prstGeom>
                    </p:spPr>
                  </p:pic>
                </p:oleObj>
              </mc:Fallback>
            </mc:AlternateContent>
          </a:graphicData>
        </a:graphic>
      </p:graphicFrame>
      <p:sp>
        <p:nvSpPr>
          <p:cNvPr id="3" name="Slide Number Placeholder"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timing/>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tags" Target="../tags/tag16.xml" /><Relationship Id="rId3" Type="http://schemas.openxmlformats.org/officeDocument/2006/relationships/oleObject" Target="../embeddings/oleObject17.bin" TargetMode="Internal" /><Relationship Id="rId4" Type="http://schemas.openxmlformats.org/officeDocument/2006/relationships/image" Target="../media/image1.emf" /><Relationship Id="rId5" Type="http://schemas.openxmlformats.org/officeDocument/2006/relationships/vmlDrawing" Target="../drawings/vmlDrawing14.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7.xml" /><Relationship Id="rId3" Type="http://schemas.openxmlformats.org/officeDocument/2006/relationships/oleObject" Target="../embeddings/oleObject15.bin" TargetMode="Internal" /><Relationship Id="rId4" Type="http://schemas.openxmlformats.org/officeDocument/2006/relationships/image" Target="../media/image214.emf" /><Relationship Id="rId5" Type="http://schemas.openxmlformats.org/officeDocument/2006/relationships/vmlDrawing" Target="../drawings/vmlDrawing15.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8.xml" /><Relationship Id="rId3" Type="http://schemas.openxmlformats.org/officeDocument/2006/relationships/oleObject" Target="../embeddings/oleObject14.bin" TargetMode="Internal" /><Relationship Id="rId4" Type="http://schemas.openxmlformats.org/officeDocument/2006/relationships/image" Target="../media/image214.emf" /><Relationship Id="rId5" Type="http://schemas.openxmlformats.org/officeDocument/2006/relationships/vmlDrawing" Target="../drawings/vmlDrawing16.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9.xml" /><Relationship Id="rId3" Type="http://schemas.openxmlformats.org/officeDocument/2006/relationships/oleObject" Target="../embeddings/oleObject18.bin" TargetMode="Internal" /><Relationship Id="rId4" Type="http://schemas.openxmlformats.org/officeDocument/2006/relationships/image" Target="../media/image214.emf" /><Relationship Id="rId5" Type="http://schemas.openxmlformats.org/officeDocument/2006/relationships/vmlDrawing" Target="../drawings/vmlDrawing17.v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20.xml" /><Relationship Id="rId3" Type="http://schemas.openxmlformats.org/officeDocument/2006/relationships/oleObject" Target="../embeddings/oleObject19.bin" TargetMode="Internal" /><Relationship Id="rId4" Type="http://schemas.openxmlformats.org/officeDocument/2006/relationships/image" Target="../media/image214.emf" /><Relationship Id="rId5" Type="http://schemas.openxmlformats.org/officeDocument/2006/relationships/vmlDrawing" Target="../drawings/vmlDrawing18.v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image" Target="../media/image220.png" /><Relationship Id="rId11" Type="http://schemas.openxmlformats.org/officeDocument/2006/relationships/image" Target="../media/image221.png" /><Relationship Id="rId12" Type="http://schemas.openxmlformats.org/officeDocument/2006/relationships/image" Target="../media/image222.png" /><Relationship Id="rId13" Type="http://schemas.openxmlformats.org/officeDocument/2006/relationships/image" Target="../media/image223.png" /><Relationship Id="rId14" Type="http://schemas.openxmlformats.org/officeDocument/2006/relationships/image" Target="../media/image224.png" /><Relationship Id="rId15" Type="http://schemas.openxmlformats.org/officeDocument/2006/relationships/image" Target="../media/image225.png" /><Relationship Id="rId16" Type="http://schemas.openxmlformats.org/officeDocument/2006/relationships/image" Target="../media/image226.png" /><Relationship Id="rId17" Type="http://schemas.openxmlformats.org/officeDocument/2006/relationships/image" Target="../media/image227.png" /><Relationship Id="rId18" Type="http://schemas.openxmlformats.org/officeDocument/2006/relationships/image" Target="../media/image228.png" /><Relationship Id="rId19" Type="http://schemas.openxmlformats.org/officeDocument/2006/relationships/image" Target="../media/image229.png" /><Relationship Id="rId2" Type="http://schemas.openxmlformats.org/officeDocument/2006/relationships/tags" Target="../tags/tag21.xml" /><Relationship Id="rId20" Type="http://schemas.openxmlformats.org/officeDocument/2006/relationships/image" Target="../media/image230.png" /><Relationship Id="rId21" Type="http://schemas.openxmlformats.org/officeDocument/2006/relationships/image" Target="../media/image231.png" /><Relationship Id="rId22" Type="http://schemas.openxmlformats.org/officeDocument/2006/relationships/image" Target="../media/image232.png" /><Relationship Id="rId23" Type="http://schemas.openxmlformats.org/officeDocument/2006/relationships/vmlDrawing" Target="../drawings/vmlDrawing19.vml" /><Relationship Id="rId3" Type="http://schemas.openxmlformats.org/officeDocument/2006/relationships/oleObject" Target="../embeddings/oleObject16.bin" TargetMode="Internal" /><Relationship Id="rId4" Type="http://schemas.openxmlformats.org/officeDocument/2006/relationships/image" Target="../media/image214.emf" /><Relationship Id="rId5" Type="http://schemas.openxmlformats.org/officeDocument/2006/relationships/image" Target="../media/image215.png" /><Relationship Id="rId6" Type="http://schemas.openxmlformats.org/officeDocument/2006/relationships/image" Target="../media/image216.png" /><Relationship Id="rId7" Type="http://schemas.openxmlformats.org/officeDocument/2006/relationships/image" Target="../media/image217.png" /><Relationship Id="rId8" Type="http://schemas.openxmlformats.org/officeDocument/2006/relationships/image" Target="../media/image218.png" /><Relationship Id="rId9" Type="http://schemas.openxmlformats.org/officeDocument/2006/relationships/image" Target="../media/image219.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1.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8DED7E7E-96F5-A8CE-9310-105DD7EE0A33}"/>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71A0C68C-0146-24E5-8D8C-84C4982797EF}"/>
              </a:ext>
            </a:extLst>
          </p:cNvPr>
          <p:cNvGraphicFramePr>
            <a:graphicFrameLocks noChangeAspect="1"/>
          </p:cNvGraphicFramePr>
          <p:nvPr>
            <p:custDataLst>
              <p:tags r:id="rId2"/>
            </p:custDataLst>
            <p:extLst>
              <p:ext uri="{D42A27DB-BD31-4B8C-83A1-F6EECF244321}">
                <p14:modId val="1110748573"/>
              </p:ext>
            </p:extLst>
          </p:nvPr>
        </p:nvGraphicFramePr>
        <p:xfrm>
          <a:off x="1192" y="1287067"/>
          <a:ext cx="1192" cy="1192"/>
        </p:xfrm>
        <a:graphic>
          <a:graphicData uri="http://schemas.openxmlformats.org/presentationml/2006/ole">
            <mc:AlternateContent>
              <mc:Choice xmlns:v="urn:schemas-microsoft-com:vml" Requires="v">
                <p:oleObj spid="_x0000_s105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2" y="1287067"/>
                        <a:ext cx="1192" cy="119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B51CE8FF-2934-D6A5-CDA5-42934C54C4FB}"/>
              </a:ext>
            </a:extLst>
          </p:cNvPr>
          <p:cNvSpPr>
            <a:spLocks noGrp="1"/>
          </p:cNvSpPr>
          <p:nvPr>
            <p:ph type="sldNum" sz="quarter" idx="13"/>
          </p:nvPr>
        </p:nvSpPr>
        <p:spPr/>
        <p:txBody>
          <a:bodyPr/>
          <a:lstStyle/>
          <a:p>
            <a:fld id="{CC3D6C64-01FF-444E-AD84-E895EC95156E}" type="slidenum">
              <a:rPr lang="en-US" smtClean="0"/>
              <a:t>1</a:t>
            </a:fld>
            <a:endParaRPr lang="en-US"/>
          </a:p>
        </p:txBody>
      </p:sp>
      <p:graphicFrame>
        <p:nvGraphicFramePr>
          <p:cNvPr id="9" name="New Table" title=""/>
          <p:cNvGraphicFramePr>
            <a:graphicFrameLocks noGrp="1"/>
          </p:cNvGraphicFramePr>
          <p:nvPr/>
        </p:nvGraphicFramePr>
        <p:xfrm>
          <a:off x="7146759" y="2001323"/>
          <a:ext cx="6424864" cy="5835320"/>
        </p:xfrm>
        <a:graphic>
          <a:graphicData uri="http://schemas.openxmlformats.org/drawingml/2006/table">
            <a:tbl>
              <a:tblPr firstRow="1" bandRow="1">
                <a:tableStyleId>{5C22544A-7EE6-4342-B048-85BDC9FD1C3A}</a:tableStyleId>
              </a:tblPr>
              <a:tblGrid>
                <a:gridCol w="6424864"/>
              </a:tblGrid>
              <a:tr h="1167064">
                <a:tc>
                  <a:txBody>
                    <a:bodyPr anchor="ctr"/>
                    <a:lstStyle/>
                    <a:p>
                      <a:r>
                        <a:rPr sz="3100" b="1" i="0" u="sng">
                          <a:solidFill>
                            <a:srgbClr val="FFFFFF"/>
                          </a:solidFill>
                          <a:latin typeface="Century Gothic" panose="020f0302020204030204"/>
                        </a:rPr>
                        <a:t>Customer Health Overview</a:t>
                      </a:r>
                    </a:p>
                  </a:txBody>
                  <a:tcPr anchor="ctr">
                    <a:lnL w="0">
                      <a:noFill/>
                    </a:lnL>
                    <a:lnR w="0">
                      <a:noFill/>
                    </a:lnR>
                    <a:lnT w="0">
                      <a:noFill/>
                    </a:lnT>
                    <a:lnB w="0">
                      <a:noFill/>
                    </a:lnB>
                    <a:lnTlToBr w="0">
                      <a:noFill/>
                    </a:lnTlToBr>
                    <a:lnBlToTr w="0">
                      <a:noFill/>
                    </a:lnBlToTr>
                    <a:noFill/>
                  </a:tcPr>
                </a:tc>
              </a:tr>
              <a:tr h="1167064">
                <a:tc>
                  <a:txBody>
                    <a:bodyPr anchor="ctr"/>
                    <a:lstStyle/>
                    <a:p>
                      <a:r>
                        <a:rPr sz="3100" b="0" i="0">
                          <a:solidFill>
                            <a:srgbClr val="72ECF3"/>
                          </a:solidFill>
                          <a:latin typeface="Century Gothic" panose="020f0302020204030204"/>
                        </a:rPr>
                        <a:t>Renewal Outlook</a:t>
                      </a:r>
                    </a:p>
                  </a:txBody>
                  <a:tcPr anchor="ctr">
                    <a:lnL w="0">
                      <a:noFill/>
                    </a:lnL>
                    <a:lnR w="0">
                      <a:noFill/>
                    </a:lnR>
                    <a:lnT w="0">
                      <a:noFill/>
                    </a:lnT>
                    <a:lnB w="0">
                      <a:noFill/>
                    </a:lnB>
                    <a:lnTlToBr w="0">
                      <a:noFill/>
                    </a:lnTlToBr>
                    <a:lnBlToTr w="0">
                      <a:noFill/>
                    </a:lnBlToTr>
                    <a:noFill/>
                  </a:tcPr>
                </a:tc>
              </a:tr>
              <a:tr h="1167064">
                <a:tc>
                  <a:txBody>
                    <a:bodyPr anchor="ctr"/>
                    <a:lstStyle/>
                    <a:p>
                      <a:r>
                        <a:rPr sz="3100" b="0" i="0">
                          <a:solidFill>
                            <a:srgbClr val="72ECF3"/>
                          </a:solidFill>
                          <a:latin typeface="Century Gothic" panose="020f0302020204030204"/>
                        </a:rPr>
                        <a:t>Advisory Board</a:t>
                      </a:r>
                    </a:p>
                  </a:txBody>
                  <a:tcPr anchor="ctr">
                    <a:lnL w="0">
                      <a:noFill/>
                    </a:lnL>
                    <a:lnR w="0">
                      <a:noFill/>
                    </a:lnR>
                    <a:lnT w="0">
                      <a:noFill/>
                    </a:lnT>
                    <a:lnB w="0">
                      <a:noFill/>
                    </a:lnB>
                    <a:lnTlToBr w="0">
                      <a:noFill/>
                    </a:lnTlToBr>
                    <a:lnBlToTr w="0">
                      <a:noFill/>
                    </a:lnBlToTr>
                    <a:noFill/>
                  </a:tcPr>
                </a:tc>
              </a:tr>
              <a:tr h="1167064">
                <a:tc>
                  <a:txBody>
                    <a:bodyPr anchor="ctr"/>
                    <a:lstStyle/>
                    <a:p>
                      <a:r>
                        <a:rPr sz="3100" b="0" i="0">
                          <a:solidFill>
                            <a:srgbClr val="72ECF3"/>
                          </a:solidFill>
                          <a:latin typeface="Century Gothic" panose="020f0302020204030204"/>
                        </a:rPr>
                        <a:t>Market Analysis</a:t>
                      </a:r>
                    </a:p>
                  </a:txBody>
                  <a:tcPr anchor="ctr">
                    <a:lnL w="0">
                      <a:noFill/>
                    </a:lnL>
                    <a:lnR w="0">
                      <a:noFill/>
                    </a:lnR>
                    <a:lnT w="0">
                      <a:noFill/>
                    </a:lnT>
                    <a:lnB w="0">
                      <a:noFill/>
                    </a:lnB>
                    <a:lnTlToBr w="0">
                      <a:noFill/>
                    </a:lnTlToBr>
                    <a:lnBlToTr w="0">
                      <a:noFill/>
                    </a:lnBlToTr>
                    <a:noFill/>
                  </a:tcPr>
                </a:tc>
              </a:tr>
              <a:tr h="1167064">
                <a:tc>
                  <a:txBody>
                    <a:bodyPr anchor="ctr"/>
                    <a:lstStyle/>
                    <a:p>
                      <a:r>
                        <a:rPr sz="3100" b="0" i="0">
                          <a:solidFill>
                            <a:srgbClr val="72ECF3"/>
                          </a:solidFill>
                          <a:latin typeface="Century Gothic" panose="020f0302020204030204"/>
                        </a:rPr>
                        <a:t>NPS Deep Dive</a:t>
                      </a:r>
                    </a:p>
                  </a:txBody>
                  <a:tcPr anchor="ctr">
                    <a:lnL w="0">
                      <a:noFill/>
                    </a:lnL>
                    <a:lnR w="0">
                      <a:noFill/>
                    </a:lnR>
                    <a:lnT w="0">
                      <a:noFill/>
                    </a:lnT>
                    <a:lnB w="0">
                      <a:noFill/>
                    </a:lnB>
                    <a:lnTlToBr w="0">
                      <a:noFill/>
                    </a:lnTlToBr>
                    <a:lnBlToTr w="0">
                      <a:noFill/>
                    </a:lnBlToTr>
                    <a:noFill/>
                  </a:tcPr>
                </a:tc>
              </a:tr>
            </a:tbl>
          </a:graphicData>
        </a:graphic>
      </p:graphicFrame>
      <p:sp>
        <p:nvSpPr>
          <p:cNvPr id="10" name="New shape" title=""/>
          <p:cNvSpPr txBox="1"/>
          <p:nvPr/>
        </p:nvSpPr>
        <p:spPr>
          <a:xfrm>
            <a:off x="6542172" y="2344825"/>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1</a:t>
            </a:r>
          </a:p>
        </p:txBody>
      </p:sp>
      <p:sp>
        <p:nvSpPr>
          <p:cNvPr id="11" name="New shape" title=""/>
          <p:cNvSpPr txBox="1"/>
          <p:nvPr/>
        </p:nvSpPr>
        <p:spPr>
          <a:xfrm>
            <a:off x="6542172" y="3511889"/>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2</a:t>
            </a:r>
          </a:p>
        </p:txBody>
      </p:sp>
      <p:sp>
        <p:nvSpPr>
          <p:cNvPr id="12" name="New shape" title=""/>
          <p:cNvSpPr txBox="1"/>
          <p:nvPr/>
        </p:nvSpPr>
        <p:spPr>
          <a:xfrm>
            <a:off x="6542172" y="4678953"/>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3</a:t>
            </a:r>
          </a:p>
        </p:txBody>
      </p:sp>
      <p:sp>
        <p:nvSpPr>
          <p:cNvPr id="13" name="New shape" title=""/>
          <p:cNvSpPr txBox="1"/>
          <p:nvPr/>
        </p:nvSpPr>
        <p:spPr>
          <a:xfrm>
            <a:off x="6542172" y="5846017"/>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4</a:t>
            </a:r>
          </a:p>
        </p:txBody>
      </p:sp>
      <p:sp>
        <p:nvSpPr>
          <p:cNvPr id="14" name="New shape" title=""/>
          <p:cNvSpPr txBox="1"/>
          <p:nvPr/>
        </p:nvSpPr>
        <p:spPr>
          <a:xfrm>
            <a:off x="6542172" y="7013081"/>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5</a:t>
            </a:r>
          </a:p>
        </p:txBody>
      </p:sp>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751863350"/>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9E37A1B6-898E-8FFE-F3DF-2D9A8807F425}"/>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a:graphicFrameLocks noChangeAspect="1"/>
          </p:cNvGraphicFramePr>
          <p:nvPr>
            <p:custDataLst>
              <p:tags r:id="rId2"/>
            </p:custDataLst>
            <p:extLst>
              <p:ext uri="{D42A27DB-BD31-4B8C-83A1-F6EECF244321}">
                <p14:modId val="1855072404"/>
              </p:ext>
            </p:extLst>
          </p:nvPr>
        </p:nvGraphicFramePr>
        <p:xfrm>
          <a:off x="1192" y="1287066"/>
          <a:ext cx="920" cy="1191"/>
        </p:xfrm>
        <a:graphic>
          <a:graphicData uri="http://schemas.openxmlformats.org/presentationml/2006/ole">
            <mc:AlternateContent>
              <mc:Choice xmlns:v="urn:schemas-microsoft-com:vml" Requires="v">
                <p:oleObj spid="_x0000_s1052"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2531">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val="47572625"/>
              </p:ext>
            </p:extLst>
          </p:nvPr>
        </p:nvGraphicFramePr>
        <p:xfrm>
          <a:off x="617739" y="1422400"/>
          <a:ext cx="12364977" cy="7018020"/>
        </p:xfrm>
        <a:graphic>
          <a:graphicData uri="http://schemas.openxmlformats.org/drawingml/2006/table">
            <a:tbl>
              <a:tblPr>
                <a:tableStyleId>{5C22544A-7EE6-4342-B048-85BDC9FD1C3A}</a:tableStyleId>
              </a:tblPr>
              <a:tblGrid>
                <a:gridCol w="2886849">
                  <a:extLst>
                    <a:ext uri="{9D8B030D-6E8A-4147-A177-3AD203B41FA5}">
                      <a16:colId xmlns:a16="http://schemas.microsoft.com/office/drawing/2014/main" val="2304583127"/>
                    </a:ext>
                  </a:extLst>
                </a:gridCol>
                <a:gridCol w="1661084">
                  <a:extLst>
                    <a:ext uri="{9D8B030D-6E8A-4147-A177-3AD203B41FA5}">
                      <a16:colId xmlns:a16="http://schemas.microsoft.com/office/drawing/2014/main" val="1923328261"/>
                    </a:ext>
                  </a:extLst>
                </a:gridCol>
                <a:gridCol w="1516380">
                  <a:extLst>
                    <a:ext uri="{9D8B030D-6E8A-4147-A177-3AD203B41FA5}">
                      <a16:colId xmlns:a16="http://schemas.microsoft.com/office/drawing/2014/main" val="2395428578"/>
                    </a:ext>
                  </a:extLst>
                </a:gridCol>
                <a:gridCol w="3115965">
                  <a:extLst>
                    <a:ext uri="{9D8B030D-6E8A-4147-A177-3AD203B41FA5}">
                      <a16:colId xmlns:a16="http://schemas.microsoft.com/office/drawing/2014/main" val="1174110002"/>
                    </a:ext>
                  </a:extLst>
                </a:gridCol>
                <a:gridCol w="3184699">
                  <a:extLst>
                    <a:ext uri="{9D8B030D-6E8A-4147-A177-3AD203B41FA5}">
                      <a16:colId xmlns:a16="http://schemas.microsoft.com/office/drawing/2014/main" val="3862608622"/>
                    </a:ext>
                  </a:extLst>
                </a:gridCol>
              </a:tblGrid>
              <a:tr h="495300">
                <a:tc>
                  <a:txBody>
                    <a:bodyPr vert="horz" wrap="square"/>
                    <a:lstStyle/>
                    <a:p>
                      <a:pPr algn="ctr"/>
                      <a:r>
                        <a:rPr sz="12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Health Score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Level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Product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l"/>
                      <a:r>
                        <a:rPr sz="12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vert="horz" wrap="square"/>
                    <a:lstStyle/>
                    <a:p>
                      <a:r>
                        <a:rPr sz="110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TechFlow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SecureNet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Nexus Digital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Velocity Systems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BlueWave Tech</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Apex Solutions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Horizon Group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NorthStar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Elevate Partners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CoreLogic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Pathway Global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628650" y="8572500"/>
            <a:ext cx="11987011" cy="12039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232269687"/>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3"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8976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250" b="0" i="0"/>
                        <a:t>Primary expansion driver was the launch of their new enterprise sales division requiring deeper pipeline analytics and forecasting capabilities. Usage metrics show 94% weekly active user rate.</a:t>
                      </a:r>
                    </a:p>
                    <a:p>
                      <a:pPr lvl="0" indent="152400">
                        <a:buSzTx/>
                        <a:buChar char="•"/>
                      </a:pPr>
                      <a:r>
                        <a:rPr sz="1250" b="0" i="0"/>
                        <a:t>Executive sponsor (VP Sales) is a vocal advocate, speaking at two industry conferences about ROI achieved through the platform. Internal NPS survey returned a score of 72.</a:t>
                      </a:r>
                    </a:p>
                    <a:p>
                      <a:pPr lvl="0" indent="152400">
                        <a:buSzTx/>
                        <a:buChar char="•"/>
                      </a:pPr>
                      <a:r>
                        <a:rPr sz="1250" b="0" i="0"/>
                        <a:t>Q1 2025 renewal expected to add AI-powered insights module ($35K incremental) and expand to product team (25 seats). Multi-year discount being discussed in exchange for case study participation.</a:t>
                      </a:r>
                    </a:p>
                    <a:p>
                      <a:r>
                        <a:rPr sz="125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Two-year contract signed Q2 2023 at $65K annually is coming up for renewal. Usage has declined 40% since executive sponsor departed in Q3 2024.</a:t>
                      </a:r>
                    </a:p>
                    <a:p>
                      <a:pPr lvl="0" indent="152400">
                        <a:buSzTx/>
                        <a:buChar char="•"/>
                      </a:pPr>
                      <a:r>
                        <a:rPr sz="1250" b="0" i="0"/>
                        <a:t>Original champion (Director of Customer Success) left for competitor; replacement has no prior platform experience and has been evaluating alternatives including Gainsight and ChurnZero.</a:t>
                      </a:r>
                    </a:p>
                    <a:p>
                      <a:pPr lvl="0" indent="152400">
                        <a:buSzTx/>
                        <a:buChar char="•"/>
                      </a:pPr>
                      <a:r>
                        <a:rPr sz="1250" b="0" i="0"/>
                        <a:t>Technical integration issues with their custom CRM have never been fully resolved, leading to data sync delays that frustrate end users. Support ticket volume is 3x average.</a:t>
                      </a:r>
                    </a:p>
                    <a:p>
                      <a:pPr lvl="0" indent="152400">
                        <a:buSzTx/>
                        <a:buChar char="•"/>
                      </a:pPr>
                      <a:r>
                        <a:rPr sz="1250" b="0" i="0"/>
                        <a:t>Churn risk is high unless executive alignment can be re-established. CSM team has escalated and scheduled EBR with new VP of Operations for January.</a:t>
                      </a:r>
                    </a:p>
                    <a:p>
                      <a:r>
                        <a:rPr sz="125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Power user account with current annual spend of $220K across three business units. Contract includes enterprise tier with custom integrations and dedicated support.</a:t>
                      </a:r>
                    </a:p>
                    <a:p>
                      <a:pPr lvl="0" indent="152400">
                        <a:buSzTx/>
                        <a:buChar char="•"/>
                      </a:pPr>
                      <a:r>
                        <a:rPr sz="1250" b="0" i="0"/>
                        <a:t>Platform is deeply embedded in daily workflows--CS team runs all health scoring, QBRs, and renewal playbooks through the system. Estimated switching cost is 6+ months of productivity loss.</a:t>
                      </a:r>
                    </a:p>
                    <a:p>
                      <a:pPr lvl="0" indent="152400">
                        <a:buSzTx/>
                        <a:buChar char="•"/>
                      </a:pPr>
                      <a:r>
                        <a:rPr sz="1250" b="0" i="0"/>
                        <a:t>Recently promoted internal champion to Chief Customer Officer, signaling strategic priority on customer success. Company is in growth mode after Series D funding.</a:t>
                      </a:r>
                    </a:p>
                    <a:p>
                      <a:pPr lvl="0" indent="152400">
                        <a:buSzTx/>
                        <a:buChar char="•"/>
                      </a:pPr>
                      <a:r>
                        <a:rPr sz="1250" b="0" i="0"/>
                        <a:t>Q2 2025 renewal will include discussion of multi-year enterprise agreement (3-year) with 15% expansion for new product team adoption and advanced API access.</a:t>
                      </a:r>
                    </a:p>
                    <a:p>
                      <a:r>
                        <a:rPr sz="125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4"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7833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pPr lvl="0" indent="152400">
                        <a:buSzTx/>
                        <a:buChar char="•"/>
                      </a:pPr>
                      <a:r>
                        <a:rPr sz="1250" b="0" i="0"/>
                        <a:t>Mid-market account with $45K annual spend on standard tier. Three-year contract from Q3 2022 is approaching renewal with stable but unspectacular usage patterns.</a:t>
                      </a:r>
                    </a:p>
                    <a:p>
                      <a:pPr lvl="0" indent="152400">
                        <a:buSzTx/>
                        <a:buChar char="•"/>
                      </a:pPr>
                      <a:r>
                        <a:rPr sz="1250" b="0" i="0"/>
                        <a:t>Customer has not adopted advanced features (AI insights, custom dashboards) despite multiple enablement sessions. Utilization hovers around 60% of licensed capacity.</a:t>
                      </a:r>
                    </a:p>
                    <a:p>
                      <a:pPr lvl="0" indent="152400">
                        <a:buSzTx/>
                        <a:buChar char="•"/>
                      </a:pPr>
                      <a:r>
                        <a:rPr sz="1250" b="0" i="0"/>
                        <a:t>Budget constraints from recent restructuring may impact renewal. Finance team has requested ROI documentation and competitive pricing analysis.</a:t>
                      </a:r>
                    </a:p>
                    <a:p>
                      <a:pPr lvl="0" indent="152400">
                        <a:buSzTx/>
                        <a:buChar char="•"/>
                      </a:pPr>
                      <a:r>
                        <a:rPr sz="1250" b="0" i="0"/>
                        <a:t>Likely flat renewal with potential modest expansion if proposed use case for product feedback loop gains internal approval. Risk of downsell if budget pressures intensify.</a:t>
                      </a:r>
                    </a:p>
                    <a:p>
                      <a:r>
                        <a:rPr sz="125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2026</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Strategic account with $180K annual contract, expanded twice since initial $60K deployment in 2022. Currently at 250 seats across global operations.</a:t>
                      </a:r>
                    </a:p>
                    <a:p>
                      <a:pPr lvl="0" indent="152400">
                        <a:buSzTx/>
                        <a:buChar char="•"/>
                      </a:pPr>
                      <a:r>
                        <a:rPr sz="1250" b="0" i="0"/>
                        <a:t>Champion network is strong with advocates in CS, Sales, and Product teams. Monthly usage reports show 89% feature adoption and 96% weekly active users.</a:t>
                      </a:r>
                    </a:p>
                    <a:p>
                      <a:pPr lvl="0" indent="152400">
                        <a:buSzTx/>
                        <a:buChar char="•"/>
                      </a:pPr>
                      <a:r>
                        <a:rPr sz="1250" b="0" i="0"/>
                        <a:t>Company is acquiring two smaller competitors in 2025, creating opportunity for significant seat expansion and potential displacement of acquired companies' tooling.</a:t>
                      </a:r>
                    </a:p>
                    <a:p>
                      <a:pPr lvl="0" indent="152400">
                        <a:buSzTx/>
                        <a:buChar char="•"/>
                      </a:pPr>
                      <a:r>
                        <a:rPr sz="1250" b="0" i="0"/>
                        <a:t>Q1 2026 renewal expected to be straightforward expansion discussion. Early conversations suggest 40-50% growth tied to M&amp;A integration timeline.</a:t>
                      </a:r>
                    </a:p>
                    <a:p>
                      <a:r>
                        <a:rPr sz="125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Small account ($28K annually) with declining engagement since Q2 2024. Weekly active users dropped from 85% to 35% after layoffs reduced CS team by half.</a:t>
                      </a:r>
                    </a:p>
                    <a:p>
                      <a:pPr lvl="0" indent="152400">
                        <a:buSzTx/>
                        <a:buChar char="•"/>
                      </a:pPr>
                      <a:r>
                        <a:rPr sz="1250" b="0" i="0"/>
                        <a:t>Company is in cost-cutting mode following missed revenue targets. All vendor contracts are under review with procurement leading aggressive negotiation rounds.</a:t>
                      </a:r>
                    </a:p>
                    <a:p>
                      <a:pPr lvl="0" indent="152400">
                        <a:buSzTx/>
                        <a:buChar char="•"/>
                      </a:pPr>
                      <a:r>
                        <a:rPr sz="1250" b="0" i="0"/>
                        <a:t>Competitor (Totango) has offered aggressive pricing to displacement deal. Internal champion is advocating for retention but lacks budget authority.</a:t>
                      </a:r>
                    </a:p>
                    <a:p>
                      <a:pPr lvl="0" indent="152400">
                        <a:buSzTx/>
                        <a:buChar char="•"/>
                      </a:pPr>
                      <a:r>
                        <a:rPr sz="1250" b="0" i="0"/>
                        <a:t>High probability of churn or significant downsell. CSM recommending proactive discount offer to preserve relationship for future expansion when company stabilizes.</a:t>
                      </a:r>
                    </a:p>
                    <a:p>
                      <a:r>
                        <a:rPr sz="125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5"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560070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Enterprise account with $310K annual contract, the largest in the SMB vertical. Deployment includes custom integrations with SAP, ServiceNow, and proprietary billing system.</a:t>
                      </a:r>
                    </a:p>
                    <a:p>
                      <a:pPr lvl="0" indent="152400">
                        <a:buSzTx/>
                        <a:buChar char="•"/>
                      </a:pPr>
                      <a:r>
                        <a:rPr sz="1250" b="0" i="0"/>
                        <a:t>Executive sponsor (CRO) is a board advisor reference customer. Company has provided three customer references and participated in product advisory council.</a:t>
                      </a:r>
                    </a:p>
                    <a:p>
                      <a:pPr lvl="0" indent="152400">
                        <a:buSzTx/>
                        <a:buChar char="•"/>
                      </a:pPr>
                      <a:r>
                        <a:rPr sz="1250" b="0" i="0"/>
                        <a:t>Recent pilot of new workflow automation features exceeded expectations, reducing manual CS tasks by 40%. Full rollout planned for Q2 2025.</a:t>
                      </a:r>
                    </a:p>
                    <a:p>
                      <a:pPr lvl="0" indent="152400">
                        <a:buSzTx/>
                        <a:buChar char="•"/>
                      </a:pPr>
                      <a:r>
                        <a:rPr sz="1250" b="0" i="0"/>
                        <a:t>Q3 2025 renewal expected to include significant expansion (est. $75-100K) for automation module enterprise license plus international team onboarding.</a:t>
                      </a:r>
                    </a:p>
                    <a:p>
                      <a:r>
                        <a:rPr sz="125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Mid-market account with $52K annual spend. Original use case (churn prediction) has not delivered expected results due to data quality issues on customer side.</a:t>
                      </a:r>
                    </a:p>
                    <a:p>
                      <a:pPr lvl="0" indent="152400">
                        <a:buSzTx/>
                        <a:buChar char="•"/>
                      </a:pPr>
                      <a:r>
                        <a:rPr sz="1250" b="0" i="0"/>
                        <a:t>Implementation was rushed and proper data hygiene protocols were never established. Customer blames platform for inaccurate predictions stemming from garbage-in data.</a:t>
                      </a:r>
                    </a:p>
                    <a:p>
                      <a:pPr lvl="0" indent="152400">
                        <a:buSzTx/>
                        <a:buChar char="•"/>
                      </a:pPr>
                      <a:r>
                        <a:rPr sz="1250" b="0" i="0"/>
                        <a:t>New CTO hired in Q4 2024 is conducting full vendor audit. Has expressed preference for building internal solutions vs. buying SaaS tools.</a:t>
                      </a:r>
                    </a:p>
                    <a:p>
                      <a:pPr lvl="0" indent="152400">
                        <a:buSzTx/>
                        <a:buChar char="•"/>
                      </a:pPr>
                      <a:r>
                        <a:rPr sz="1250" b="0" i="0"/>
                        <a:t>Significant churn risk unless professional services engagement can remediate data issues and demonstrate value. Proposal for health check engagement submitted.</a:t>
                      </a:r>
                    </a:p>
                    <a:p>
                      <a:r>
                        <a:rPr sz="125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3554CA51-446F-0141-59F8-8EF1BD527CA9}"/>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2"/>
            </p:custDataLst>
            <p:extLst>
              <p:ext uri="{D42A27DB-BD31-4B8C-83A1-F6EECF244321}">
                <p14:modId val="1646091294"/>
              </p:ext>
            </p:extLst>
          </p:nvPr>
        </p:nvGraphicFramePr>
        <p:xfrm>
          <a:off x="1192" y="1287066"/>
          <a:ext cx="920" cy="1191"/>
        </p:xfrm>
        <a:graphic>
          <a:graphicData uri="http://schemas.openxmlformats.org/presentationml/2006/ole">
            <mc:AlternateContent>
              <mc:Choice xmlns:v="urn:schemas-microsoft-com:vml" Requires="v">
                <p:oleObj spid="_x0000_s1056"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rIns="91440"/>
          <a:lstStyle/>
          <a:p>
            <a:r>
              <a:rPr lang="en-US" sz="2531">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val="4172365990"/>
              </p:ext>
            </p:extLst>
          </p:nvPr>
        </p:nvGraphicFramePr>
        <p:xfrm>
          <a:off x="628649" y="1433971"/>
          <a:ext cx="5829300" cy="8599029"/>
        </p:xfrm>
        <a:graphic>
          <a:graphicData uri="http://schemas.openxmlformats.org/drawingml/2006/table">
            <a:tbl>
              <a:tblPr firstRow="1" bandRow="1">
                <a:tableStyleId>{2D5ABB26-0587-4C30-8999-92F81FD0307C}</a:tableStyleId>
              </a:tblPr>
              <a:tblGrid>
                <a:gridCol w="1274480">
                  <a:extLst>
                    <a:ext uri="{9D8B030D-6E8A-4147-A177-3AD203B41FA5}">
                      <a16:colId xmlns:a16="http://schemas.microsoft.com/office/drawing/2014/main" val="3233064169"/>
                    </a:ext>
                  </a:extLst>
                </a:gridCol>
                <a:gridCol w="2210264">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Marcus Johnson</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Priya Sharma</a:t>
                      </a:r>
                    </a:p>
                    <a:p>
                      <a:pPr algn="ctr"/>
                      <a:r>
                        <a:rPr sz="1100" b="0" i="0">
                          <a:solidFill>
                            <a:srgbClr val="000000"/>
                          </a:solidFill>
                          <a:latin typeface="Century Gothic"/>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James Chen</a:t>
                      </a:r>
                    </a:p>
                    <a:p>
                      <a:pPr algn="ctr"/>
                      <a:r>
                        <a:rPr sz="1100" b="0" i="0">
                          <a:solidFill>
                            <a:srgbClr val="000000"/>
                          </a:solidFill>
                          <a:latin typeface="Century Gothic"/>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Enterprise Tech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Katherine Williams</a:t>
                      </a:r>
                    </a:p>
                    <a:p>
                      <a:pPr algn="ctr"/>
                      <a:r>
                        <a:rPr sz="1100" b="0" i="0">
                          <a:solidFill>
                            <a:srgbClr val="000000"/>
                          </a:solidFill>
                          <a:latin typeface="Century Gothic"/>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David Park</a:t>
                      </a:r>
                    </a:p>
                    <a:p>
                      <a:pPr algn="ctr"/>
                      <a:r>
                        <a:rPr sz="1100" b="0" i="0">
                          <a:solidFill>
                            <a:srgbClr val="000000"/>
                          </a:solidFill>
                          <a:latin typeface="Century Gothic"/>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Maria Rodriguez</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Thomas O'Brien</a:t>
                      </a:r>
                    </a:p>
                    <a:p>
                      <a:pPr algn="ctr"/>
                      <a:r>
                        <a:rPr sz="1100" b="0" i="0">
                          <a:solidFill>
                            <a:srgbClr val="000000"/>
                          </a:solidFill>
                          <a:latin typeface="Century Gothic"/>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Lisa Nakamura</a:t>
                      </a:r>
                    </a:p>
                    <a:p>
                      <a:pPr algn="ctr"/>
                      <a:r>
                        <a:rPr sz="1100" b="0" i="0">
                          <a:solidFill>
                            <a:srgbClr val="000000"/>
                          </a:solidFill>
                          <a:latin typeface="Century Gothic"/>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Robert Singh</a:t>
                      </a:r>
                    </a:p>
                    <a:p>
                      <a:pPr algn="ctr"/>
                      <a:r>
                        <a:rPr sz="1100" b="0" i="0">
                          <a:solidFill>
                            <a:srgbClr val="000000"/>
                          </a:solidFill>
                          <a:latin typeface="Century Gothic"/>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Jennifer Liu</a:t>
                      </a:r>
                    </a:p>
                    <a:p>
                      <a:pPr algn="ctr"/>
                      <a:r>
                        <a:rPr sz="1100" b="0" i="0">
                          <a:solidFill>
                            <a:srgbClr val="000000"/>
                          </a:solidFill>
                          <a:latin typeface="Century Gothic"/>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val="3353466126"/>
              </p:ext>
            </p:extLst>
          </p:nvPr>
        </p:nvGraphicFramePr>
        <p:xfrm>
          <a:off x="6629399" y="1433971"/>
          <a:ext cx="5829301" cy="8599029"/>
        </p:xfrm>
        <a:graphic>
          <a:graphicData uri="http://schemas.openxmlformats.org/drawingml/2006/table">
            <a:tbl>
              <a:tblPr firstRow="1" bandRow="1">
                <a:tableStyleId>{2D5ABB26-0587-4C30-8999-92F81FD0307C}</a:tableStyleId>
              </a:tblPr>
              <a:tblGrid>
                <a:gridCol w="1386757">
                  <a:extLst>
                    <a:ext uri="{9D8B030D-6E8A-4147-A177-3AD203B41FA5}">
                      <a16:colId xmlns:a16="http://schemas.microsoft.com/office/drawing/2014/main" val="3233064169"/>
                    </a:ext>
                  </a:extLst>
                </a:gridCol>
                <a:gridCol w="2097988">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Andrew Mitchell</a:t>
                      </a:r>
                    </a:p>
                    <a:p>
                      <a:pPr algn="ctr"/>
                      <a:r>
                        <a:rPr sz="1100" b="0" i="0">
                          <a:solidFill>
                            <a:srgbClr val="000000"/>
                          </a:solidFill>
                          <a:latin typeface="Century Gothic"/>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Sarah Thompson</a:t>
                      </a:r>
                    </a:p>
                    <a:p>
                      <a:pPr algn="ctr"/>
                      <a:r>
                        <a:rPr sz="1100" b="0" i="0">
                          <a:solidFill>
                            <a:srgbClr val="000000"/>
                          </a:solidFill>
                          <a:latin typeface="Century Gothic"/>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Michael Chang</a:t>
                      </a:r>
                    </a:p>
                    <a:p>
                      <a:pPr algn="ctr"/>
                      <a:r>
                        <a:rPr sz="1100" b="0" i="0">
                          <a:solidFill>
                            <a:srgbClr val="000000"/>
                          </a:solidFill>
                          <a:latin typeface="Century Gothic"/>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Financial Services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Elizabeth Warren</a:t>
                      </a:r>
                    </a:p>
                    <a:p>
                      <a:pPr algn="ctr"/>
                      <a:r>
                        <a:rPr sz="1100" b="0" i="0">
                          <a:solidFill>
                            <a:srgbClr val="000000"/>
                          </a:solidFill>
                          <a:latin typeface="Century Gothic"/>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Ryan Patel</a:t>
                      </a:r>
                    </a:p>
                    <a:p>
                      <a:pPr algn="ctr"/>
                      <a:r>
                        <a:rPr sz="1100" b="0" i="0">
                          <a:solidFill>
                            <a:srgbClr val="000000"/>
                          </a:solidFill>
                          <a:latin typeface="Century Gothic"/>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Amanda Foster</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Christopher Lee</a:t>
                      </a:r>
                    </a:p>
                    <a:p>
                      <a:pPr algn="ctr"/>
                      <a:r>
                        <a:rPr sz="1100" b="0" i="0">
                          <a:solidFill>
                            <a:srgbClr val="000000"/>
                          </a:solidFill>
                          <a:latin typeface="Century Gothic"/>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Nicole Martinez</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Daniel Kim</a:t>
                      </a:r>
                    </a:p>
                    <a:p>
                      <a:pPr algn="ctr"/>
                      <a:r>
                        <a:rPr sz="1100" b="0" i="0">
                          <a:solidFill>
                            <a:srgbClr val="000000"/>
                          </a:solidFill>
                          <a:latin typeface="Century Gothic"/>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Rachel Green</a:t>
                      </a:r>
                    </a:p>
                    <a:p>
                      <a:pPr algn="ctr"/>
                      <a:r>
                        <a:rPr sz="1100" b="0" i="0">
                          <a:solidFill>
                            <a:srgbClr val="000000"/>
                          </a:solidFill>
                          <a:latin typeface="Century Gothic"/>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pic>
        <p:nvPicPr>
          <p:cNvPr id="10" name="New picture" title=""/>
          <p:cNvPicPr/>
          <p:nvPr/>
        </p:nvPicPr>
        <p:blipFill>
          <a:blip r:embed="rId5"/>
          <a:stretch>
            <a:fillRect/>
          </a:stretch>
        </p:blipFill>
        <p:spPr>
          <a:xfrm>
            <a:off x="935684" y="1817511"/>
            <a:ext cx="660410" cy="660410"/>
          </a:xfrm>
          <a:prstGeom prst="rect">
            <a:avLst/>
          </a:prstGeom>
        </p:spPr>
      </p:pic>
      <p:pic>
        <p:nvPicPr>
          <p:cNvPr id="11" name="New picture" title=""/>
          <p:cNvPicPr/>
          <p:nvPr/>
        </p:nvPicPr>
        <p:blipFill>
          <a:blip r:embed="rId6"/>
          <a:stretch>
            <a:fillRect/>
          </a:stretch>
        </p:blipFill>
        <p:spPr>
          <a:xfrm>
            <a:off x="935684" y="2604921"/>
            <a:ext cx="660410" cy="660410"/>
          </a:xfrm>
          <a:prstGeom prst="rect">
            <a:avLst/>
          </a:prstGeom>
        </p:spPr>
      </p:pic>
      <p:pic>
        <p:nvPicPr>
          <p:cNvPr id="12" name="New picture" title=""/>
          <p:cNvPicPr/>
          <p:nvPr/>
        </p:nvPicPr>
        <p:blipFill>
          <a:blip r:embed="rId7"/>
          <a:stretch>
            <a:fillRect/>
          </a:stretch>
        </p:blipFill>
        <p:spPr>
          <a:xfrm>
            <a:off x="935684" y="3392331"/>
            <a:ext cx="660410" cy="660410"/>
          </a:xfrm>
          <a:prstGeom prst="rect">
            <a:avLst/>
          </a:prstGeom>
        </p:spPr>
      </p:pic>
      <p:pic>
        <p:nvPicPr>
          <p:cNvPr id="13" name="New picture" title=""/>
          <p:cNvPicPr/>
          <p:nvPr/>
        </p:nvPicPr>
        <p:blipFill>
          <a:blip r:embed="rId8"/>
          <a:stretch>
            <a:fillRect/>
          </a:stretch>
        </p:blipFill>
        <p:spPr>
          <a:xfrm>
            <a:off x="935684" y="4978337"/>
            <a:ext cx="660410" cy="660410"/>
          </a:xfrm>
          <a:prstGeom prst="rect">
            <a:avLst/>
          </a:prstGeom>
        </p:spPr>
      </p:pic>
      <p:pic>
        <p:nvPicPr>
          <p:cNvPr id="14" name="New picture" title=""/>
          <p:cNvPicPr/>
          <p:nvPr/>
        </p:nvPicPr>
        <p:blipFill>
          <a:blip r:embed="rId9"/>
          <a:stretch>
            <a:fillRect/>
          </a:stretch>
        </p:blipFill>
        <p:spPr>
          <a:xfrm>
            <a:off x="935684" y="5765747"/>
            <a:ext cx="660410" cy="660410"/>
          </a:xfrm>
          <a:prstGeom prst="rect">
            <a:avLst/>
          </a:prstGeom>
        </p:spPr>
      </p:pic>
      <p:pic>
        <p:nvPicPr>
          <p:cNvPr id="15" name="New picture" title=""/>
          <p:cNvPicPr/>
          <p:nvPr/>
        </p:nvPicPr>
        <p:blipFill>
          <a:blip r:embed="rId10"/>
          <a:stretch>
            <a:fillRect/>
          </a:stretch>
        </p:blipFill>
        <p:spPr>
          <a:xfrm>
            <a:off x="935684" y="6553157"/>
            <a:ext cx="660410" cy="660410"/>
          </a:xfrm>
          <a:prstGeom prst="rect">
            <a:avLst/>
          </a:prstGeom>
        </p:spPr>
      </p:pic>
      <p:pic>
        <p:nvPicPr>
          <p:cNvPr id="16" name="New picture" title=""/>
          <p:cNvPicPr/>
          <p:nvPr/>
        </p:nvPicPr>
        <p:blipFill>
          <a:blip r:embed="rId11"/>
          <a:stretch>
            <a:fillRect/>
          </a:stretch>
        </p:blipFill>
        <p:spPr>
          <a:xfrm>
            <a:off x="738832" y="7340566"/>
            <a:ext cx="1054115" cy="1054115"/>
          </a:xfrm>
          <a:prstGeom prst="rect">
            <a:avLst/>
          </a:prstGeom>
        </p:spPr>
      </p:pic>
      <p:pic>
        <p:nvPicPr>
          <p:cNvPr id="17" name="New picture" title=""/>
          <p:cNvPicPr/>
          <p:nvPr/>
        </p:nvPicPr>
        <p:blipFill>
          <a:blip r:embed="rId12"/>
          <a:stretch>
            <a:fillRect/>
          </a:stretch>
        </p:blipFill>
        <p:spPr>
          <a:xfrm>
            <a:off x="935684" y="8521681"/>
            <a:ext cx="660410" cy="660410"/>
          </a:xfrm>
          <a:prstGeom prst="rect">
            <a:avLst/>
          </a:prstGeom>
        </p:spPr>
      </p:pic>
      <p:pic>
        <p:nvPicPr>
          <p:cNvPr id="18" name="New picture" title=""/>
          <p:cNvPicPr/>
          <p:nvPr/>
        </p:nvPicPr>
        <p:blipFill>
          <a:blip r:embed="rId13"/>
          <a:stretch>
            <a:fillRect/>
          </a:stretch>
        </p:blipFill>
        <p:spPr>
          <a:xfrm>
            <a:off x="935684" y="9309091"/>
            <a:ext cx="660410" cy="660410"/>
          </a:xfrm>
          <a:prstGeom prst="rect">
            <a:avLst/>
          </a:prstGeom>
        </p:spPr>
      </p:pic>
      <p:pic>
        <p:nvPicPr>
          <p:cNvPr id="19" name="New picture" title=""/>
          <p:cNvPicPr/>
          <p:nvPr/>
        </p:nvPicPr>
        <p:blipFill>
          <a:blip r:embed="rId14"/>
          <a:stretch>
            <a:fillRect/>
          </a:stretch>
        </p:blipFill>
        <p:spPr>
          <a:xfrm>
            <a:off x="6992573" y="1817511"/>
            <a:ext cx="660410" cy="660410"/>
          </a:xfrm>
          <a:prstGeom prst="rect">
            <a:avLst/>
          </a:prstGeom>
        </p:spPr>
      </p:pic>
      <p:pic>
        <p:nvPicPr>
          <p:cNvPr id="20" name="New picture" title=""/>
          <p:cNvPicPr/>
          <p:nvPr/>
        </p:nvPicPr>
        <p:blipFill>
          <a:blip r:embed="rId15"/>
          <a:stretch>
            <a:fillRect/>
          </a:stretch>
        </p:blipFill>
        <p:spPr>
          <a:xfrm>
            <a:off x="6992573" y="2604921"/>
            <a:ext cx="660410" cy="660410"/>
          </a:xfrm>
          <a:prstGeom prst="rect">
            <a:avLst/>
          </a:prstGeom>
        </p:spPr>
      </p:pic>
      <p:pic>
        <p:nvPicPr>
          <p:cNvPr id="21" name="New picture" title=""/>
          <p:cNvPicPr/>
          <p:nvPr/>
        </p:nvPicPr>
        <p:blipFill>
          <a:blip r:embed="rId16"/>
          <a:stretch>
            <a:fillRect/>
          </a:stretch>
        </p:blipFill>
        <p:spPr>
          <a:xfrm>
            <a:off x="6992573" y="3392331"/>
            <a:ext cx="660410" cy="660410"/>
          </a:xfrm>
          <a:prstGeom prst="rect">
            <a:avLst/>
          </a:prstGeom>
        </p:spPr>
      </p:pic>
      <p:pic>
        <p:nvPicPr>
          <p:cNvPr id="22" name="New picture" title=""/>
          <p:cNvPicPr/>
          <p:nvPr/>
        </p:nvPicPr>
        <p:blipFill>
          <a:blip r:embed="rId17"/>
          <a:stretch>
            <a:fillRect/>
          </a:stretch>
        </p:blipFill>
        <p:spPr>
          <a:xfrm>
            <a:off x="6992573" y="4978337"/>
            <a:ext cx="660410" cy="660410"/>
          </a:xfrm>
          <a:prstGeom prst="rect">
            <a:avLst/>
          </a:prstGeom>
        </p:spPr>
      </p:pic>
      <p:pic>
        <p:nvPicPr>
          <p:cNvPr id="23" name="New picture" title=""/>
          <p:cNvPicPr/>
          <p:nvPr/>
        </p:nvPicPr>
        <p:blipFill>
          <a:blip r:embed="rId18"/>
          <a:stretch>
            <a:fillRect/>
          </a:stretch>
        </p:blipFill>
        <p:spPr>
          <a:xfrm>
            <a:off x="6992573" y="5765747"/>
            <a:ext cx="660410" cy="660410"/>
          </a:xfrm>
          <a:prstGeom prst="rect">
            <a:avLst/>
          </a:prstGeom>
        </p:spPr>
      </p:pic>
      <p:pic>
        <p:nvPicPr>
          <p:cNvPr id="24" name="New picture" title=""/>
          <p:cNvPicPr/>
          <p:nvPr/>
        </p:nvPicPr>
        <p:blipFill>
          <a:blip r:embed="rId19"/>
          <a:stretch>
            <a:fillRect/>
          </a:stretch>
        </p:blipFill>
        <p:spPr>
          <a:xfrm>
            <a:off x="6992573" y="6553157"/>
            <a:ext cx="660410" cy="660410"/>
          </a:xfrm>
          <a:prstGeom prst="rect">
            <a:avLst/>
          </a:prstGeom>
        </p:spPr>
      </p:pic>
      <p:pic>
        <p:nvPicPr>
          <p:cNvPr id="25" name="New picture" title=""/>
          <p:cNvPicPr/>
          <p:nvPr/>
        </p:nvPicPr>
        <p:blipFill>
          <a:blip r:embed="rId20"/>
          <a:stretch>
            <a:fillRect/>
          </a:stretch>
        </p:blipFill>
        <p:spPr>
          <a:xfrm>
            <a:off x="6795720" y="7340566"/>
            <a:ext cx="1054115" cy="1054115"/>
          </a:xfrm>
          <a:prstGeom prst="rect">
            <a:avLst/>
          </a:prstGeom>
        </p:spPr>
      </p:pic>
      <p:pic>
        <p:nvPicPr>
          <p:cNvPr id="26" name="New picture" title=""/>
          <p:cNvPicPr/>
          <p:nvPr/>
        </p:nvPicPr>
        <p:blipFill>
          <a:blip r:embed="rId21"/>
          <a:stretch>
            <a:fillRect/>
          </a:stretch>
        </p:blipFill>
        <p:spPr>
          <a:xfrm>
            <a:off x="6992573" y="8521681"/>
            <a:ext cx="660410" cy="660410"/>
          </a:xfrm>
          <a:prstGeom prst="rect">
            <a:avLst/>
          </a:prstGeom>
        </p:spPr>
      </p:pic>
      <p:pic>
        <p:nvPicPr>
          <p:cNvPr id="27" name="New picture" title=""/>
          <p:cNvPicPr/>
          <p:nvPr/>
        </p:nvPicPr>
        <p:blipFill>
          <a:blip r:embed="rId22"/>
          <a:stretch>
            <a:fillRect/>
          </a:stretch>
        </p:blipFill>
        <p:spPr>
          <a:xfrm>
            <a:off x="6992573" y="9309091"/>
            <a:ext cx="660410" cy="660410"/>
          </a:xfrm>
          <a:prstGeom prst="rect">
            <a:avLst/>
          </a:prstGeom>
        </p:spPr>
      </p:pic>
      <p:sp>
        <p:nvSpPr>
          <p:cNvPr id="2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01872855"/>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7</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2531">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628649"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6694713"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234615" y="9552659"/>
            <a:ext cx="12224084" cy="2514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5"/>
              </a:spcAft>
            </a:pPr>
            <a:r>
              <a:rPr lang="en-US" sz="105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extLst>
              <p:ext uri="{D42A27DB-BD31-4B8C-83A1-F6EECF244321}">
                <p14:modId val="976276518"/>
              </p:ext>
            </p:extLst>
          </p:nvPr>
        </p:nvGraphicFramePr>
        <p:xfrm>
          <a:off x="6694715" y="2006600"/>
          <a:ext cx="5763985" cy="7025642"/>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2281645">
                  <a:extLst>
                    <a:ext uri="{9D8B030D-6E8A-4147-A177-3AD203B41FA5}">
                      <a16:colId xmlns:a16="http://schemas.microsoft.com/office/drawing/2014/main" val="558999386"/>
                    </a:ext>
                  </a:extLst>
                </a:gridCol>
              </a:tblGrid>
              <a:tr h="495300">
                <a:tc>
                  <a:txBody>
                    <a:bodyPr vert="horz" wrap="square"/>
                    <a:lstStyle/>
                    <a:p>
                      <a:pPr algn="ctr"/>
                      <a:r>
                        <a:rPr sz="1200" b="1" i="0">
                          <a:solidFill>
                            <a:srgbClr val="000000"/>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Consideration / Awareness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841500">
                <a:tc>
                  <a:txBody>
                    <a:bodyPr vert="horz" wrap="square"/>
                    <a:lstStyle/>
                    <a:p>
                      <a:pPr algn="ctr"/>
                      <a:r>
                        <a:rPr sz="800" b="0" i="0">
                          <a:solidFill>
                            <a:srgbClr val="000000"/>
                          </a:solidFill>
                          <a:latin typeface="Century Gothic"/>
                        </a:rPr>
                        <a:t>Software Co.
($3B Market Cap)</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600200">
                <a:tc>
                  <a:txBody>
                    <a:bodyPr vert="horz" wrap="square"/>
                    <a:lstStyle/>
                    <a:p>
                      <a:pPr algn="ctr"/>
                      <a:r>
                        <a:rPr sz="800" b="0" i="0">
                          <a:solidFill>
                            <a:srgbClr val="000000"/>
                          </a:solidFill>
                          <a:latin typeface="Century Gothic"/>
                        </a:rPr>
                        <a:t>Software Co.
($2B+ funding)</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473200">
                <a:tc>
                  <a:txBody>
                    <a:bodyPr vert="horz" wrap="square"/>
                    <a:lstStyle/>
                    <a:p>
                      <a:pPr algn="ctr"/>
                      <a:r>
                        <a:rPr sz="800" b="0" i="0">
                          <a:solidFill>
                            <a:srgbClr val="000000"/>
                          </a:solidFill>
                          <a:latin typeface="Century Gothic"/>
                        </a:rPr>
                        <a:t>Top 10 US Bank</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600200">
                <a:tc>
                  <a:txBody>
                    <a:bodyPr vert="horz" wrap="square"/>
                    <a:lstStyle/>
                    <a:p>
                      <a:pPr algn="ctr"/>
                      <a:r>
                        <a:rPr sz="800" b="0" i="0">
                          <a:solidFill>
                            <a:srgbClr val="000000"/>
                          </a:solidFill>
                          <a:latin typeface="Century Gothic"/>
                        </a:rPr>
                        <a:t>Food Services Co.</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vert="horz" wrap="square"/>
                    <a:lstStyle/>
                    <a:p>
                      <a:pPr algn="ctr"/>
                      <a:r>
                        <a:rPr sz="800" b="0" i="0">
                          <a:solidFill>
                            <a:srgbClr val="000000"/>
                          </a:solidFill>
                          <a:latin typeface="Century Gothic"/>
                        </a:rPr>
                        <a:t>Seen Demo / Sales Pitch</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vert="horz" wrap="square"/>
                    <a:lstStyle/>
                    <a:p>
                      <a:pPr algn="l"/>
                      <a:r>
                        <a:rPr sz="800" b="0" i="1">
                          <a:solidFill>
                            <a:srgbClr val="000000"/>
                          </a:solidFill>
                          <a:latin typeface="Century Gothic"/>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extLst>
              <p:ext uri="{D42A27DB-BD31-4B8C-83A1-F6EECF244321}">
                <p14:modId val="960084613"/>
              </p:ext>
            </p:extLst>
          </p:nvPr>
        </p:nvGraphicFramePr>
        <p:xfrm>
          <a:off x="628649" y="2235200"/>
          <a:ext cx="5763985" cy="5890669"/>
        </p:xfrm>
        <a:graphic>
          <a:graphicData uri="http://schemas.openxmlformats.org/drawingml/2006/chart">
            <c:chart xmlns:c="http://schemas.openxmlformats.org/drawingml/2006/chart" r:id="rId2"/>
          </a:graphicData>
        </a:graphic>
      </p:graphicFrame>
      <p:sp>
        <p:nvSpPr>
          <p:cNvPr id="21" name="chart_bar_label_0" title=""/>
          <p:cNvSpPr txBox="1"/>
          <p:nvPr/>
        </p:nvSpPr>
        <p:spPr>
          <a:xfrm>
            <a:off x="1992669"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chart_bar_label_0" title=""/>
          <p:cNvSpPr txBox="1"/>
          <p:nvPr/>
        </p:nvSpPr>
        <p:spPr>
          <a:xfrm>
            <a:off x="3661076"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chart_bar_label_0" title=""/>
          <p:cNvSpPr txBox="1"/>
          <p:nvPr/>
        </p:nvSpPr>
        <p:spPr>
          <a:xfrm>
            <a:off x="5329483"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chart_data_table_0" title=""/>
          <p:cNvGraphicFramePr>
            <a:graphicFrameLocks noGrp="1"/>
          </p:cNvGraphicFramePr>
          <p:nvPr/>
        </p:nvGraphicFramePr>
        <p:xfrm>
          <a:off x="127000" y="7581900"/>
          <a:ext cx="6186546" cy="1051560"/>
        </p:xfrm>
        <a:graphic>
          <a:graphicData uri="http://schemas.openxmlformats.org/drawingml/2006/table">
            <a:tbl>
              <a:tblPr firstRow="1" bandRow="1"/>
              <a:tblGrid>
                <a:gridCol w="1181326"/>
                <a:gridCol w="1668407"/>
                <a:gridCol w="1668407"/>
                <a:gridCol w="1668407"/>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14</a:t>
                      </a:r>
                    </a:p>
                  </a:txBody>
                  <a:tcPr>
                    <a:lnL>
                      <a:noFill/>
                    </a:lnL>
                    <a:lnR>
                      <a:noFill/>
                    </a:lnR>
                    <a:lnT>
                      <a:noFill/>
                    </a:lnT>
                    <a:lnB>
                      <a:noFill/>
                    </a:lnB>
                    <a:noFill/>
                  </a:tcPr>
                </a:tc>
                <a:tc>
                  <a:txBody>
                    <a:bodyPr/>
                    <a:lstStyle/>
                    <a:p>
                      <a:pPr algn="ctr"/>
                      <a:r>
                        <a:rPr sz="1400">
                          <a:solidFill>
                            <a:srgbClr val="000000"/>
                          </a:solidFill>
                        </a:rPr>
                        <a:t>15</a:t>
                      </a:r>
                    </a:p>
                  </a:txBody>
                  <a:tcPr>
                    <a:lnL>
                      <a:noFill/>
                    </a:lnL>
                    <a:lnR>
                      <a:noFill/>
                    </a:lnR>
                    <a:lnT>
                      <a:noFill/>
                    </a:lnT>
                    <a:lnB>
                      <a:noFill/>
                    </a:lnB>
                    <a:noFill/>
                  </a:tcPr>
                </a:tc>
              </a:tr>
              <a:tr h="320040">
                <a:tc>
                  <a:txBody>
                    <a:bodyPr/>
                    <a:lstStyle/>
                    <a:p>
                      <a:pPr algn="l"/>
                      <a:r>
                        <a:rPr sz="1400">
                          <a:solidFill>
                            <a:srgbClr val="000000"/>
                          </a:solidFill>
                        </a:rPr>
                        <a:t>% Considering</a:t>
                      </a:r>
                    </a:p>
                  </a:txBody>
                  <a:tcPr>
                    <a:lnL>
                      <a:noFill/>
                    </a:lnL>
                    <a:lnR>
                      <a:noFill/>
                    </a:lnR>
                    <a:lnT>
                      <a:noFill/>
                    </a:lnT>
                    <a:lnB>
                      <a:noFill/>
                    </a:lnB>
                    <a:noFill/>
                  </a:tcPr>
                </a:tc>
                <a:tc>
                  <a:txBody>
                    <a:bodyPr/>
                    <a:lstStyle/>
                    <a:p>
                      <a:pPr algn="ctr"/>
                      <a:r>
                        <a:rPr sz="1400">
                          <a:solidFill>
                            <a:srgbClr val="000000"/>
                          </a:solidFill>
                        </a:rPr>
                        <a:t>24%</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20%</a:t>
                      </a:r>
                    </a:p>
                  </a:txBody>
                  <a:tcPr>
                    <a:lnL>
                      <a:noFill/>
                    </a:lnL>
                    <a:lnR>
                      <a:noFill/>
                    </a:lnR>
                    <a:lnT>
                      <a:noFill/>
                    </a:lnT>
                    <a:lnB>
                      <a:noFill/>
                    </a:lnB>
                    <a:noFill/>
                  </a:tcPr>
                </a:tc>
              </a:tr>
            </a:tbl>
          </a:graphicData>
        </a:graphic>
      </p:graphicFrame>
      <p:sp>
        <p:nvSpPr>
          <p:cNvPr id="2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333530180"/>
      </p:ext>
    </p:extLst>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8</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2531">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val="2794148821"/>
              </p:ext>
            </p:extLst>
          </p:nvPr>
        </p:nvGraphicFramePr>
        <p:xfrm>
          <a:off x="628650" y="2019300"/>
          <a:ext cx="11830050" cy="6588364"/>
        </p:xfrm>
        <a:graphic>
          <a:graphicData uri="http://schemas.openxmlformats.org/drawingml/2006/chart">
            <c:chart xmlns:c="http://schemas.openxmlformats.org/drawingml/2006/chart" r:id="rId2"/>
          </a:graphicData>
        </a:graphic>
      </p:graphicFrame>
      <p:sp>
        <p:nvSpPr>
          <p:cNvPr id="4" name="TextBox 3">
            <a:extLst>
              <a:ext uri="{FF2B5EF4-FFF2-40B4-BE49-F238E27FC236}">
                <a16:creationId xmlns:a16="http://schemas.microsoft.com/office/drawing/2014/main" id="{6D23BCE0-1626-F197-026B-185B0EE63298}"/>
              </a:ext>
            </a:extLst>
          </p:cNvPr>
          <p:cNvSpPr txBox="1"/>
          <p:nvPr/>
        </p:nvSpPr>
        <p:spPr>
          <a:xfrm>
            <a:off x="550170" y="1422400"/>
            <a:ext cx="11908530" cy="2971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50">
                <a:solidFill>
                  <a:srgbClr val="000000"/>
                </a:solidFill>
                <a:latin typeface="Century Gothic" panose="020f0302020204030204"/>
              </a:rPr>
              <a:t>Question: What is driving the significant detractor rates at DataSync Ltd and GrowthMetrics?</a:t>
            </a:r>
          </a:p>
        </p:txBody>
      </p:sp>
      <p:sp>
        <p:nvSpPr>
          <p:cNvPr id="6" name="chart_bar_label_0" title=""/>
          <p:cNvSpPr txBox="1"/>
          <p:nvPr/>
        </p:nvSpPr>
        <p:spPr>
          <a:xfrm>
            <a:off x="2245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7" name="chart_bar_label_0" title=""/>
          <p:cNvSpPr txBox="1"/>
          <p:nvPr/>
        </p:nvSpPr>
        <p:spPr>
          <a:xfrm>
            <a:off x="3550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chart_bar_label_0" title=""/>
          <p:cNvSpPr txBox="1"/>
          <p:nvPr/>
        </p:nvSpPr>
        <p:spPr>
          <a:xfrm>
            <a:off x="4855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chart_bar_label_0" title=""/>
          <p:cNvSpPr txBox="1"/>
          <p:nvPr/>
        </p:nvSpPr>
        <p:spPr>
          <a:xfrm>
            <a:off x="6160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chart_bar_label_0" title=""/>
          <p:cNvSpPr txBox="1"/>
          <p:nvPr/>
        </p:nvSpPr>
        <p:spPr>
          <a:xfrm>
            <a:off x="7464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chart_bar_label_0" title=""/>
          <p:cNvSpPr txBox="1"/>
          <p:nvPr/>
        </p:nvSpPr>
        <p:spPr>
          <a:xfrm>
            <a:off x="8769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chart_bar_label_0" title=""/>
          <p:cNvSpPr txBox="1"/>
          <p:nvPr/>
        </p:nvSpPr>
        <p:spPr>
          <a:xfrm>
            <a:off x="10074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chart_bar_label_0" title=""/>
          <p:cNvSpPr txBox="1"/>
          <p:nvPr/>
        </p:nvSpPr>
        <p:spPr>
          <a:xfrm>
            <a:off x="11379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chart_data_table_0" title=""/>
          <p:cNvGraphicFramePr>
            <a:graphicFrameLocks noGrp="1"/>
          </p:cNvGraphicFramePr>
          <p:nvPr/>
        </p:nvGraphicFramePr>
        <p:xfrm>
          <a:off x="1130021" y="8978900"/>
          <a:ext cx="11113639" cy="640080"/>
        </p:xfrm>
        <a:graphic>
          <a:graphicData uri="http://schemas.openxmlformats.org/drawingml/2006/table">
            <a:tbl>
              <a:tblPr firstRow="1" bandRow="1"/>
              <a:tblGrid>
                <a:gridCol w="675640"/>
                <a:gridCol w="1304750"/>
                <a:gridCol w="1304750"/>
                <a:gridCol w="1304750"/>
                <a:gridCol w="1304750"/>
                <a:gridCol w="1304750"/>
                <a:gridCol w="1304750"/>
                <a:gridCol w="1304750"/>
                <a:gridCol w="1304750"/>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156</a:t>
                      </a:r>
                    </a:p>
                  </a:txBody>
                  <a:tcPr>
                    <a:lnL>
                      <a:noFill/>
                    </a:lnL>
                    <a:lnR>
                      <a:noFill/>
                    </a:lnR>
                    <a:lnT>
                      <a:noFill/>
                    </a:lnT>
                    <a:lnB>
                      <a:noFill/>
                    </a:lnB>
                    <a:noFill/>
                  </a:tcPr>
                </a:tc>
                <a:tc>
                  <a:txBody>
                    <a:bodyPr/>
                    <a:lstStyle/>
                    <a:p>
                      <a:pPr algn="ctr"/>
                      <a:r>
                        <a:rPr sz="1400">
                          <a:solidFill>
                            <a:srgbClr val="000000"/>
                          </a:solidFill>
                        </a:rPr>
                        <a:t>142</a:t>
                      </a:r>
                    </a:p>
                  </a:txBody>
                  <a:tcPr>
                    <a:lnL>
                      <a:noFill/>
                    </a:lnL>
                    <a:lnR>
                      <a:noFill/>
                    </a:lnR>
                    <a:lnT>
                      <a:noFill/>
                    </a:lnT>
                    <a:lnB>
                      <a:noFill/>
                    </a:lnB>
                    <a:noFill/>
                  </a:tcPr>
                </a:tc>
                <a:tc>
                  <a:txBody>
                    <a:bodyPr/>
                    <a:lstStyle/>
                    <a:p>
                      <a:pPr algn="ctr"/>
                      <a:r>
                        <a:rPr sz="1400">
                          <a:solidFill>
                            <a:srgbClr val="000000"/>
                          </a:solidFill>
                        </a:rPr>
                        <a:t>89</a:t>
                      </a:r>
                    </a:p>
                  </a:txBody>
                  <a:tcPr>
                    <a:lnL>
                      <a:noFill/>
                    </a:lnL>
                    <a:lnR>
                      <a:noFill/>
                    </a:lnR>
                    <a:lnT>
                      <a:noFill/>
                    </a:lnT>
                    <a:lnB>
                      <a:noFill/>
                    </a:lnB>
                    <a:noFill/>
                  </a:tcPr>
                </a:tc>
                <a:tc>
                  <a:txBody>
                    <a:bodyPr/>
                    <a:lstStyle/>
                    <a:p>
                      <a:pPr algn="ctr"/>
                      <a:r>
                        <a:rPr sz="1400">
                          <a:solidFill>
                            <a:srgbClr val="000000"/>
                          </a:solidFill>
                        </a:rPr>
                        <a:t>178</a:t>
                      </a:r>
                    </a:p>
                  </a:txBody>
                  <a:tcPr>
                    <a:lnL>
                      <a:noFill/>
                    </a:lnL>
                    <a:lnR>
                      <a:noFill/>
                    </a:lnR>
                    <a:lnT>
                      <a:noFill/>
                    </a:lnT>
                    <a:lnB>
                      <a:noFill/>
                    </a:lnB>
                    <a:noFill/>
                  </a:tcPr>
                </a:tc>
                <a:tc>
                  <a:txBody>
                    <a:bodyPr/>
                    <a:lstStyle/>
                    <a:p>
                      <a:pPr algn="ctr"/>
                      <a:r>
                        <a:rPr sz="1400">
                          <a:solidFill>
                            <a:srgbClr val="000000"/>
                          </a:solidFill>
                        </a:rPr>
                        <a:t>201</a:t>
                      </a:r>
                    </a:p>
                  </a:txBody>
                  <a:tcPr>
                    <a:lnL>
                      <a:noFill/>
                    </a:lnL>
                    <a:lnR>
                      <a:noFill/>
                    </a:lnR>
                    <a:lnT>
                      <a:noFill/>
                    </a:lnT>
                    <a:lnB>
                      <a:noFill/>
                    </a:lnB>
                    <a:noFill/>
                  </a:tcPr>
                </a:tc>
                <a:tc>
                  <a:txBody>
                    <a:bodyPr/>
                    <a:lstStyle/>
                    <a:p>
                      <a:pPr algn="ctr"/>
                      <a:r>
                        <a:rPr sz="1400">
                          <a:solidFill>
                            <a:srgbClr val="000000"/>
                          </a:solidFill>
                        </a:rPr>
                        <a:t>134</a:t>
                      </a:r>
                    </a:p>
                  </a:txBody>
                  <a:tcPr>
                    <a:lnL>
                      <a:noFill/>
                    </a:lnL>
                    <a:lnR>
                      <a:noFill/>
                    </a:lnR>
                    <a:lnT>
                      <a:noFill/>
                    </a:lnT>
                    <a:lnB>
                      <a:noFill/>
                    </a:lnB>
                    <a:noFill/>
                  </a:tcPr>
                </a:tc>
                <a:tc>
                  <a:txBody>
                    <a:bodyPr/>
                    <a:lstStyle/>
                    <a:p>
                      <a:pPr algn="ctr"/>
                      <a:r>
                        <a:rPr sz="1400">
                          <a:solidFill>
                            <a:srgbClr val="000000"/>
                          </a:solidFill>
                        </a:rPr>
                        <a:t>67</a:t>
                      </a:r>
                    </a:p>
                  </a:txBody>
                  <a:tcPr>
                    <a:lnL>
                      <a:noFill/>
                    </a:lnL>
                    <a:lnR>
                      <a:noFill/>
                    </a:lnR>
                    <a:lnT>
                      <a:noFill/>
                    </a:lnT>
                    <a:lnB>
                      <a:noFill/>
                    </a:lnB>
                    <a:noFill/>
                  </a:tcPr>
                </a:tc>
                <a:tc>
                  <a:txBody>
                    <a:bodyPr/>
                    <a:lstStyle/>
                    <a:p>
                      <a:pPr algn="ctr"/>
                      <a:r>
                        <a:rPr sz="1400">
                          <a:solidFill>
                            <a:srgbClr val="000000"/>
                          </a:solidFill>
                        </a:rPr>
                        <a:t>188</a:t>
                      </a:r>
                    </a:p>
                  </a:txBody>
                  <a:tcPr>
                    <a:lnL>
                      <a:noFill/>
                    </a:lnL>
                    <a:lnR>
                      <a:noFill/>
                    </a:lnR>
                    <a:lnT>
                      <a:noFill/>
                    </a:lnT>
                    <a:lnB>
                      <a:noFill/>
                    </a:lnB>
                    <a:noFill/>
                  </a:tcPr>
                </a:tc>
              </a:tr>
              <a:tr h="320040">
                <a:tc>
                  <a:txBody>
                    <a:bodyPr/>
                    <a:lstStyle/>
                    <a:p>
                      <a:pPr algn="l"/>
                      <a:r>
                        <a:rPr sz="1400">
                          <a:solidFill>
                            <a:srgbClr val="000000"/>
                          </a:solidFill>
                        </a:rPr>
                        <a:t>NPS</a:t>
                      </a:r>
                    </a:p>
                  </a:txBody>
                  <a:tcPr>
                    <a:lnL>
                      <a:noFill/>
                    </a:lnL>
                    <a:lnR>
                      <a:noFill/>
                    </a:lnR>
                    <a:lnT>
                      <a:noFill/>
                    </a:lnT>
                    <a:lnB>
                      <a:noFill/>
                    </a:lnB>
                    <a:noFill/>
                  </a:tcPr>
                </a:tc>
                <a:tc>
                  <a:txBody>
                    <a:bodyPr/>
                    <a:lstStyle/>
                    <a:p>
                      <a:pPr algn="ctr"/>
                      <a:r>
                        <a:rPr sz="1400">
                          <a:solidFill>
                            <a:srgbClr val="000000"/>
                          </a:solidFill>
                        </a:rPr>
                        <a:t>+22</a:t>
                      </a:r>
                    </a:p>
                  </a:txBody>
                  <a:tcPr>
                    <a:lnL>
                      <a:noFill/>
                    </a:lnL>
                    <a:lnR>
                      <a:noFill/>
                    </a:lnR>
                    <a:lnT>
                      <a:noFill/>
                    </a:lnT>
                    <a:lnB>
                      <a:noFill/>
                    </a:lnB>
                    <a:noFill/>
                  </a:tcPr>
                </a:tc>
                <a:tc>
                  <a:txBody>
                    <a:bodyPr/>
                    <a:lstStyle/>
                    <a:p>
                      <a:pPr algn="ctr"/>
                      <a:r>
                        <a:rPr sz="1400">
                          <a:solidFill>
                            <a:srgbClr val="000000"/>
                          </a:solidFill>
                        </a:rPr>
                        <a:t>+11</a:t>
                      </a:r>
                    </a:p>
                  </a:txBody>
                  <a:tcPr>
                    <a:lnL>
                      <a:noFill/>
                    </a:lnL>
                    <a:lnR>
                      <a:noFill/>
                    </a:lnR>
                    <a:lnT>
                      <a:noFill/>
                    </a:lnT>
                    <a:lnB>
                      <a:noFill/>
                    </a:lnB>
                    <a:noFill/>
                  </a:tcPr>
                </a:tc>
                <a:tc>
                  <a:txBody>
                    <a:bodyPr/>
                    <a:lstStyle/>
                    <a:p>
                      <a:pPr algn="ctr"/>
                      <a:r>
                        <a:rPr sz="1400">
                          <a:solidFill>
                            <a:srgbClr val="000000"/>
                          </a:solidFill>
                        </a:rPr>
                        <a:t>-51</a:t>
                      </a:r>
                    </a:p>
                  </a:txBody>
                  <a:tcPr>
                    <a:lnL>
                      <a:noFill/>
                    </a:lnL>
                    <a:lnR>
                      <a:noFill/>
                    </a:lnR>
                    <a:lnT>
                      <a:noFill/>
                    </a:lnT>
                    <a:lnB>
                      <a:noFill/>
                    </a:lnB>
                    <a:noFill/>
                  </a:tcPr>
                </a:tc>
                <a:tc>
                  <a:txBody>
                    <a:bodyPr/>
                    <a:lstStyle/>
                    <a:p>
                      <a:pPr algn="ctr"/>
                      <a:r>
                        <a:rPr sz="1400">
                          <a:solidFill>
                            <a:srgbClr val="000000"/>
                          </a:solidFill>
                        </a:rPr>
                        <a:t>-6</a:t>
                      </a:r>
                    </a:p>
                  </a:txBody>
                  <a:tcPr>
                    <a:lnL>
                      <a:noFill/>
                    </a:lnL>
                    <a:lnR>
                      <a:noFill/>
                    </a:lnR>
                    <a:lnT>
                      <a:noFill/>
                    </a:lnT>
                    <a:lnB>
                      <a:noFill/>
                    </a:lnB>
                    <a:noFill/>
                  </a:tcPr>
                </a:tc>
                <a:tc>
                  <a:txBody>
                    <a:bodyPr/>
                    <a:lstStyle/>
                    <a:p>
                      <a:pPr algn="ctr"/>
                      <a:r>
                        <a:rPr sz="1400">
                          <a:solidFill>
                            <a:srgbClr val="000000"/>
                          </a:solidFill>
                        </a:rPr>
                        <a:t>+32</a:t>
                      </a:r>
                    </a:p>
                  </a:txBody>
                  <a:tcPr>
                    <a:lnL>
                      <a:noFill/>
                    </a:lnL>
                    <a:lnR>
                      <a:noFill/>
                    </a:lnR>
                    <a:lnT>
                      <a:noFill/>
                    </a:lnT>
                    <a:lnB>
                      <a:noFill/>
                    </a:lnB>
                    <a:noFill/>
                  </a:tcPr>
                </a:tc>
                <a:tc>
                  <a:txBody>
                    <a:bodyPr/>
                    <a:lstStyle/>
                    <a:p>
                      <a:pPr algn="ctr"/>
                      <a:r>
                        <a:rPr sz="1400">
                          <a:solidFill>
                            <a:srgbClr val="000000"/>
                          </a:solidFill>
                        </a:rPr>
                        <a:t>+4</a:t>
                      </a:r>
                    </a:p>
                  </a:txBody>
                  <a:tcPr>
                    <a:lnL>
                      <a:noFill/>
                    </a:lnL>
                    <a:lnR>
                      <a:noFill/>
                    </a:lnR>
                    <a:lnT>
                      <a:noFill/>
                    </a:lnT>
                    <a:lnB>
                      <a:noFill/>
                    </a:lnB>
                    <a:noFill/>
                  </a:tcPr>
                </a:tc>
                <a:tc>
                  <a:txBody>
                    <a:bodyPr/>
                    <a:lstStyle/>
                    <a:p>
                      <a:pPr algn="ctr"/>
                      <a:r>
                        <a:rPr sz="1400">
                          <a:solidFill>
                            <a:srgbClr val="000000"/>
                          </a:solidFill>
                        </a:rPr>
                        <a:t>-62</a:t>
                      </a:r>
                    </a:p>
                  </a:txBody>
                  <a:tcPr>
                    <a:lnL>
                      <a:noFill/>
                    </a:lnL>
                    <a:lnR>
                      <a:noFill/>
                    </a:lnR>
                    <a:lnT>
                      <a:noFill/>
                    </a:lnT>
                    <a:lnB>
                      <a:noFill/>
                    </a:lnB>
                    <a:noFill/>
                  </a:tcPr>
                </a:tc>
                <a:tc>
                  <a:txBody>
                    <a:bodyPr/>
                    <a:lstStyle/>
                    <a:p>
                      <a:pPr algn="ctr"/>
                      <a:r>
                        <a:rPr sz="1400">
                          <a:solidFill>
                            <a:srgbClr val="000000"/>
                          </a:solidFill>
                        </a:rPr>
                        <a:t>+17</a:t>
                      </a:r>
                    </a:p>
                  </a:txBody>
                  <a:tcPr>
                    <a:lnL>
                      <a:noFill/>
                    </a:lnL>
                    <a:lnR>
                      <a:noFill/>
                    </a:lnR>
                    <a:lnT>
                      <a:noFill/>
                    </a:lnT>
                    <a:lnB>
                      <a:noFill/>
                    </a:lnB>
                    <a:noFill/>
                  </a:tcPr>
                </a:tc>
              </a:tr>
            </a:tbl>
          </a:graphicData>
        </a:graphic>
      </p:graphicFrame>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68315499"/>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MM_SLIDE_TYPE" val="6"/>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thinkcellActiveDocDoNotDelete"/>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AS_NET" val="3.1.32"/>
  <p:tag name="AS_OS" val="Unix 4.4.0.0"/>
  <p:tag name="AS_RELEASE_DATE" val="2026.02.14"/>
  <p:tag name="AS_TITLE" val="Aspose.Slides for Python via .NET"/>
  <p:tag name="AS_VERSION" val="26.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46</Paragraphs>
  <Slides>8</Slides>
  <Notes>0</Notes>
  <TotalTime>1</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8</vt:i4>
      </vt:variant>
    </vt:vector>
  </HeadingPairs>
  <TitlesOfParts>
    <vt:vector baseType="lpstr" size="16">
      <vt:lpstr>Arial</vt:lpstr>
      <vt:lpstr>Calibri</vt:lpstr>
      <vt:lpstr>Century Gothic</vt:lpstr>
      <vt:lpstr>Poppins SemiBold</vt:lpstr>
      <vt:lpstr>Poppins Regular</vt:lpstr>
      <vt:lpstr>Poppins Bold</vt:lpstr>
      <vt:lpstr>DejaVu Sans</vt:lpstr>
      <vt:lpstr>Office Theme</vt:lpstr>
      <vt:lpstr>PowerPoint Presentation</vt:lpstr>
      <vt:lpstr>Customer Health, Engagement, and Expansion Potential</vt:lpstr>
      <vt:lpstr>Renewal Outlook: Q1-Q3 2025 Renewals</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LinksUpToDate>0</LinksUpToDate>
  <SharedDoc>0</SharedDoc>
  <HyperlinksChanged>0</HyperlinksChanged>
  <Application>Aspose.Slides for Python via .NET</Application>
  <AppVersion>26.0200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2026-02-18T05:35:53.325</cp:lastPrinted>
  <dcterms:created xsi:type="dcterms:W3CDTF">2026-02-18T05:35:53Z</dcterms:created>
  <dcterms:modified xsi:type="dcterms:W3CDTF">2026-02-18T05:36:23Z</dcterms:modified>
</cp:coreProperties>
</file>